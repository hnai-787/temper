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5" r:id="rId2"/>
    <p:sldId id="271" r:id="rId3"/>
    <p:sldId id="272" r:id="rId4"/>
    <p:sldId id="305" r:id="rId5"/>
    <p:sldId id="302" r:id="rId6"/>
    <p:sldId id="262" r:id="rId7"/>
    <p:sldId id="275" r:id="rId8"/>
    <p:sldId id="273" r:id="rId9"/>
    <p:sldId id="286" r:id="rId10"/>
    <p:sldId id="287" r:id="rId11"/>
    <p:sldId id="292" r:id="rId12"/>
    <p:sldId id="288" r:id="rId13"/>
    <p:sldId id="289" r:id="rId14"/>
    <p:sldId id="290" r:id="rId15"/>
    <p:sldId id="294" r:id="rId16"/>
    <p:sldId id="296" r:id="rId17"/>
    <p:sldId id="297" r:id="rId18"/>
    <p:sldId id="299" r:id="rId19"/>
    <p:sldId id="300" r:id="rId20"/>
    <p:sldId id="283" r:id="rId21"/>
    <p:sldId id="306" r:id="rId22"/>
    <p:sldId id="304" r:id="rId2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4eabf5087b3bb7c0" providerId="Windows Live"/>
      </p:ext>
    </p:extLst>
  </p:cmAuthor>
  <p:cmAuthor id="2" name="Hussain Ali" initials="HA" lastIdx="1" clrIdx="1">
    <p:extLst>
      <p:ext uri="{19B8F6BF-5375-455C-9EA6-DF929625EA0E}">
        <p15:presenceInfo xmlns:p15="http://schemas.microsoft.com/office/powerpoint/2012/main" userId="0afbe67c4b9cb98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9B"/>
    <a:srgbClr val="FFE1E1"/>
    <a:srgbClr val="D9D9D9"/>
    <a:srgbClr val="FFFFFF"/>
    <a:srgbClr val="DDDDDD"/>
    <a:srgbClr val="FDFDFD"/>
    <a:srgbClr val="DCDCD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9" autoAdjust="0"/>
  </p:normalViewPr>
  <p:slideViewPr>
    <p:cSldViewPr>
      <p:cViewPr>
        <p:scale>
          <a:sx n="48" d="100"/>
          <a:sy n="48" d="100"/>
        </p:scale>
        <p:origin x="67" y="701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94D274-6509-4B75-914F-7C958DFEC097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US"/>
        </a:p>
      </dgm:t>
    </dgm:pt>
    <dgm:pt modelId="{9C76F79C-218F-428A-B37B-4405D57CCDA8}">
      <dgm:prSet phldrT="[Text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Provides a </a:t>
          </a:r>
          <a:r>
            <a:rPr lang="en-US" sz="2400" b="0" i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wide range of pre-installed cybersecurity tools</a:t>
          </a:r>
          <a:r>
            <a:rPr lang="en-US" sz="2400" b="0" i="0" dirty="0">
              <a:solidFill>
                <a:schemeClr val="bg1"/>
              </a:solidFill>
              <a:latin typeface="+mn-lt"/>
            </a:rPr>
            <a:t>.</a:t>
          </a:r>
          <a:endParaRPr lang="en-US" sz="2400" b="0" dirty="0">
            <a:solidFill>
              <a:schemeClr val="bg1"/>
            </a:solidFill>
            <a:latin typeface="+mn-lt"/>
          </a:endParaRPr>
        </a:p>
      </dgm:t>
    </dgm:pt>
    <dgm:pt modelId="{5374B065-CAAC-415C-B22C-9705F80E4476}" type="parTrans" cxnId="{9A799421-57AE-4671-860E-569605D3CFC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15983B59-519A-4BA6-85B5-7FAC64123906}" type="sibTrans" cxnId="{9A799421-57AE-4671-860E-569605D3CFC6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 b="0">
            <a:latin typeface="+mn-lt"/>
          </a:endParaRPr>
        </a:p>
      </dgm:t>
    </dgm:pt>
    <dgm:pt modelId="{F2091DCF-3E2C-463C-8E93-B631C1981286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designed to adhere to security standards and best practices.</a:t>
          </a:r>
          <a:endParaRPr lang="en-US" sz="3800" b="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gm:t>
    </dgm:pt>
    <dgm:pt modelId="{29DD5046-745D-4D39-869B-A116C55D9B45}" type="parTrans" cxnId="{FE22E46C-EB56-4AFF-A572-798269E56A5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5A0A4F41-D288-4286-9D1A-EDF91A073F70}" type="sibTrans" cxnId="{FE22E46C-EB56-4AFF-A572-798269E56A5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1063B129-E221-467A-840B-3B6C7BD05B2D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i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based on Debian and provides a high degree of customization.</a:t>
          </a:r>
          <a:endParaRPr lang="en-US" sz="2400" b="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gm:t>
    </dgm:pt>
    <dgm:pt modelId="{0D772EDB-3C00-4F90-B94E-2999C0048FFA}" type="parTrans" cxnId="{E3F6220D-8D25-4934-B87B-03E83D1F752A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85B0AD28-AA37-4BEE-92E3-6D6E3B110BFD}" type="sibTrans" cxnId="{E3F6220D-8D25-4934-B87B-03E83D1F752A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99A26121-3FA4-46B8-A55D-E40D17437E97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specifically built for security testing and assessment.</a:t>
          </a:r>
        </a:p>
      </dgm:t>
    </dgm:pt>
    <dgm:pt modelId="{55641CEE-0E09-43C0-BFC1-4C0300123C3D}" type="parTrans" cxnId="{8FFAA6F9-7A66-4457-BD47-24AC07F5651B}">
      <dgm:prSet/>
      <dgm:spPr/>
      <dgm:t>
        <a:bodyPr/>
        <a:lstStyle/>
        <a:p>
          <a:endParaRPr lang="en-GB" b="0">
            <a:latin typeface="+mn-lt"/>
          </a:endParaRPr>
        </a:p>
      </dgm:t>
    </dgm:pt>
    <dgm:pt modelId="{657C9E5C-8923-4CF3-B83B-310389322FB0}" type="sibTrans" cxnId="{8FFAA6F9-7A66-4457-BD47-24AC07F5651B}">
      <dgm:prSet/>
      <dgm:spPr/>
      <dgm:t>
        <a:bodyPr/>
        <a:lstStyle/>
        <a:p>
          <a:endParaRPr lang="en-GB" b="0">
            <a:latin typeface="+mn-lt"/>
          </a:endParaRPr>
        </a:p>
      </dgm:t>
    </dgm:pt>
    <dgm:pt modelId="{E9E367A4-733B-42F8-BE13-863A38D31627}" type="pres">
      <dgm:prSet presAssocID="{4A94D274-6509-4B75-914F-7C958DFEC097}" presName="Name0" presStyleCnt="0">
        <dgm:presLayoutVars>
          <dgm:chMax val="7"/>
          <dgm:chPref val="7"/>
          <dgm:dir/>
        </dgm:presLayoutVars>
      </dgm:prSet>
      <dgm:spPr/>
    </dgm:pt>
    <dgm:pt modelId="{50532547-1BE4-482B-82B4-F3EDCBC648B6}" type="pres">
      <dgm:prSet presAssocID="{4A94D274-6509-4B75-914F-7C958DFEC097}" presName="Name1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25984271-5615-428B-8E54-2BD36FD4CEF1}" type="pres">
      <dgm:prSet presAssocID="{4A94D274-6509-4B75-914F-7C958DFEC097}" presName="cycl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2D312B0-9AFD-449C-9DE8-168809A1C70A}" type="pres">
      <dgm:prSet presAssocID="{4A94D274-6509-4B75-914F-7C958DFEC097}" presName="src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2A3312A-9522-4C71-978E-2EE0B404E4BD}" type="pres">
      <dgm:prSet presAssocID="{4A94D274-6509-4B75-914F-7C958DFEC097}" presName="conn" presStyleLbl="parChTrans1D2" presStyleIdx="0" presStyleCnt="1"/>
      <dgm:spPr/>
    </dgm:pt>
    <dgm:pt modelId="{B5B11E12-FAE3-4744-A272-84018A238483}" type="pres">
      <dgm:prSet presAssocID="{4A94D274-6509-4B75-914F-7C958DFEC097}" presName="extra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66E23B3-E727-4B87-83BA-79BB3945856F}" type="pres">
      <dgm:prSet presAssocID="{4A94D274-6509-4B75-914F-7C958DFEC097}" presName="dst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AED78FA-4C08-4AFC-860C-B3C7430F59EA}" type="pres">
      <dgm:prSet presAssocID="{9C76F79C-218F-428A-B37B-4405D57CCDA8}" presName="text_1" presStyleLbl="node1" presStyleIdx="0" presStyleCnt="4">
        <dgm:presLayoutVars>
          <dgm:bulletEnabled val="1"/>
        </dgm:presLayoutVars>
      </dgm:prSet>
      <dgm:spPr/>
    </dgm:pt>
    <dgm:pt modelId="{0426EB69-886E-4A8D-A7A0-8CFE63C1A38E}" type="pres">
      <dgm:prSet presAssocID="{9C76F79C-218F-428A-B37B-4405D57CCDA8}" presName="accent_1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4F5A6A5-C2CF-4798-B588-3F984A7918E9}" type="pres">
      <dgm:prSet presAssocID="{9C76F79C-218F-428A-B37B-4405D57CCDA8}" presName="accentRepeatNode" presStyleLbl="solidFgAcc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495C7DF-5BEF-470C-B0D6-5BD0F1CADEE4}" type="pres">
      <dgm:prSet presAssocID="{F2091DCF-3E2C-463C-8E93-B631C1981286}" presName="text_2" presStyleLbl="node1" presStyleIdx="1" presStyleCnt="4">
        <dgm:presLayoutVars>
          <dgm:bulletEnabled val="1"/>
        </dgm:presLayoutVars>
      </dgm:prSet>
      <dgm:spPr/>
    </dgm:pt>
    <dgm:pt modelId="{9B8356A3-7372-4380-887C-9CF155E6B3E0}" type="pres">
      <dgm:prSet presAssocID="{F2091DCF-3E2C-463C-8E93-B631C1981286}" presName="accent_2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BA50B03B-DC8C-4A53-917D-0BBBC330D170}" type="pres">
      <dgm:prSet presAssocID="{F2091DCF-3E2C-463C-8E93-B631C1981286}" presName="accentRepeatNode" presStyleLbl="solidFgAcc1" presStyleIdx="1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EFD791C8-FE8B-481C-B110-B1E6983B1C5D}" type="pres">
      <dgm:prSet presAssocID="{1063B129-E221-467A-840B-3B6C7BD05B2D}" presName="text_3" presStyleLbl="node1" presStyleIdx="2" presStyleCnt="4">
        <dgm:presLayoutVars>
          <dgm:bulletEnabled val="1"/>
        </dgm:presLayoutVars>
      </dgm:prSet>
      <dgm:spPr/>
    </dgm:pt>
    <dgm:pt modelId="{F1729422-E61C-43E2-A661-43B287ADB292}" type="pres">
      <dgm:prSet presAssocID="{1063B129-E221-467A-840B-3B6C7BD05B2D}" presName="accent_3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ED0349D6-9419-4032-A600-3B825502FBCB}" type="pres">
      <dgm:prSet presAssocID="{1063B129-E221-467A-840B-3B6C7BD05B2D}" presName="accentRepeatNode" presStyleLbl="solidFgAcc1" presStyleIdx="2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43B52F2-B31F-4214-80F3-98F8262DD9C8}" type="pres">
      <dgm:prSet presAssocID="{99A26121-3FA4-46B8-A55D-E40D17437E97}" presName="text_4" presStyleLbl="node1" presStyleIdx="3" presStyleCnt="4">
        <dgm:presLayoutVars>
          <dgm:bulletEnabled val="1"/>
        </dgm:presLayoutVars>
      </dgm:prSet>
      <dgm:spPr/>
    </dgm:pt>
    <dgm:pt modelId="{DAE7EC59-D38E-45DA-9729-BF662AE60615}" type="pres">
      <dgm:prSet presAssocID="{99A26121-3FA4-46B8-A55D-E40D17437E97}" presName="accent_4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C3FABE0-0C15-4641-A5F6-3FD464801447}" type="pres">
      <dgm:prSet presAssocID="{99A26121-3FA4-46B8-A55D-E40D17437E97}" presName="accentRepeatNode" presStyleLbl="solidFgAcc1" presStyleIdx="3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</dgm:ptLst>
  <dgm:cxnLst>
    <dgm:cxn modelId="{E3F6220D-8D25-4934-B87B-03E83D1F752A}" srcId="{4A94D274-6509-4B75-914F-7C958DFEC097}" destId="{1063B129-E221-467A-840B-3B6C7BD05B2D}" srcOrd="2" destOrd="0" parTransId="{0D772EDB-3C00-4F90-B94E-2999C0048FFA}" sibTransId="{85B0AD28-AA37-4BEE-92E3-6D6E3B110BFD}"/>
    <dgm:cxn modelId="{3032E018-C615-4C9E-82DD-9BAD9B307B59}" type="presOf" srcId="{15983B59-519A-4BA6-85B5-7FAC64123906}" destId="{A2A3312A-9522-4C71-978E-2EE0B404E4BD}" srcOrd="0" destOrd="0" presId="urn:microsoft.com/office/officeart/2008/layout/VerticalCurvedList"/>
    <dgm:cxn modelId="{F79D0D19-A12B-4CFB-9497-69CAD8F932C1}" type="presOf" srcId="{F2091DCF-3E2C-463C-8E93-B631C1981286}" destId="{A495C7DF-5BEF-470C-B0D6-5BD0F1CADEE4}" srcOrd="0" destOrd="0" presId="urn:microsoft.com/office/officeart/2008/layout/VerticalCurvedList"/>
    <dgm:cxn modelId="{33029B1F-B6AC-44D1-B7B0-833225DF5D59}" type="presOf" srcId="{1063B129-E221-467A-840B-3B6C7BD05B2D}" destId="{EFD791C8-FE8B-481C-B110-B1E6983B1C5D}" srcOrd="0" destOrd="0" presId="urn:microsoft.com/office/officeart/2008/layout/VerticalCurvedList"/>
    <dgm:cxn modelId="{9A799421-57AE-4671-860E-569605D3CFC6}" srcId="{4A94D274-6509-4B75-914F-7C958DFEC097}" destId="{9C76F79C-218F-428A-B37B-4405D57CCDA8}" srcOrd="0" destOrd="0" parTransId="{5374B065-CAAC-415C-B22C-9705F80E4476}" sibTransId="{15983B59-519A-4BA6-85B5-7FAC64123906}"/>
    <dgm:cxn modelId="{DD88FE2A-E97C-4968-8FD3-30FE2328F20E}" type="presOf" srcId="{9C76F79C-218F-428A-B37B-4405D57CCDA8}" destId="{0AED78FA-4C08-4AFC-860C-B3C7430F59EA}" srcOrd="0" destOrd="0" presId="urn:microsoft.com/office/officeart/2008/layout/VerticalCurvedList"/>
    <dgm:cxn modelId="{FE22E46C-EB56-4AFF-A572-798269E56A56}" srcId="{4A94D274-6509-4B75-914F-7C958DFEC097}" destId="{F2091DCF-3E2C-463C-8E93-B631C1981286}" srcOrd="1" destOrd="0" parTransId="{29DD5046-745D-4D39-869B-A116C55D9B45}" sibTransId="{5A0A4F41-D288-4286-9D1A-EDF91A073F70}"/>
    <dgm:cxn modelId="{F039D07C-015F-4AA9-9A60-C1F6C0BEE401}" type="presOf" srcId="{4A94D274-6509-4B75-914F-7C958DFEC097}" destId="{E9E367A4-733B-42F8-BE13-863A38D31627}" srcOrd="0" destOrd="0" presId="urn:microsoft.com/office/officeart/2008/layout/VerticalCurvedList"/>
    <dgm:cxn modelId="{073B45AA-7532-4B49-80B7-AD323D5D1400}" type="presOf" srcId="{99A26121-3FA4-46B8-A55D-E40D17437E97}" destId="{C43B52F2-B31F-4214-80F3-98F8262DD9C8}" srcOrd="0" destOrd="0" presId="urn:microsoft.com/office/officeart/2008/layout/VerticalCurvedList"/>
    <dgm:cxn modelId="{8FFAA6F9-7A66-4457-BD47-24AC07F5651B}" srcId="{4A94D274-6509-4B75-914F-7C958DFEC097}" destId="{99A26121-3FA4-46B8-A55D-E40D17437E97}" srcOrd="3" destOrd="0" parTransId="{55641CEE-0E09-43C0-BFC1-4C0300123C3D}" sibTransId="{657C9E5C-8923-4CF3-B83B-310389322FB0}"/>
    <dgm:cxn modelId="{25F1650B-951C-4E66-8617-B86D85B73901}" type="presParOf" srcId="{E9E367A4-733B-42F8-BE13-863A38D31627}" destId="{50532547-1BE4-482B-82B4-F3EDCBC648B6}" srcOrd="0" destOrd="0" presId="urn:microsoft.com/office/officeart/2008/layout/VerticalCurvedList"/>
    <dgm:cxn modelId="{33B19B56-91BB-4145-BD09-73CDCB7DD5E4}" type="presParOf" srcId="{50532547-1BE4-482B-82B4-F3EDCBC648B6}" destId="{25984271-5615-428B-8E54-2BD36FD4CEF1}" srcOrd="0" destOrd="0" presId="urn:microsoft.com/office/officeart/2008/layout/VerticalCurvedList"/>
    <dgm:cxn modelId="{95FDA838-8CC3-46B2-B240-E8FED0DE83D5}" type="presParOf" srcId="{25984271-5615-428B-8E54-2BD36FD4CEF1}" destId="{02D312B0-9AFD-449C-9DE8-168809A1C70A}" srcOrd="0" destOrd="0" presId="urn:microsoft.com/office/officeart/2008/layout/VerticalCurvedList"/>
    <dgm:cxn modelId="{1439FBE2-30C3-4FCF-B0E9-955D986E7904}" type="presParOf" srcId="{25984271-5615-428B-8E54-2BD36FD4CEF1}" destId="{A2A3312A-9522-4C71-978E-2EE0B404E4BD}" srcOrd="1" destOrd="0" presId="urn:microsoft.com/office/officeart/2008/layout/VerticalCurvedList"/>
    <dgm:cxn modelId="{539BE38B-A535-4D96-8819-B0506F00B398}" type="presParOf" srcId="{25984271-5615-428B-8E54-2BD36FD4CEF1}" destId="{B5B11E12-FAE3-4744-A272-84018A238483}" srcOrd="2" destOrd="0" presId="urn:microsoft.com/office/officeart/2008/layout/VerticalCurvedList"/>
    <dgm:cxn modelId="{D590C315-0271-48F6-92D2-6FDAA42A62D9}" type="presParOf" srcId="{25984271-5615-428B-8E54-2BD36FD4CEF1}" destId="{566E23B3-E727-4B87-83BA-79BB3945856F}" srcOrd="3" destOrd="0" presId="urn:microsoft.com/office/officeart/2008/layout/VerticalCurvedList"/>
    <dgm:cxn modelId="{12B1858E-156D-44C7-99ED-4FA27238EAFF}" type="presParOf" srcId="{50532547-1BE4-482B-82B4-F3EDCBC648B6}" destId="{0AED78FA-4C08-4AFC-860C-B3C7430F59EA}" srcOrd="1" destOrd="0" presId="urn:microsoft.com/office/officeart/2008/layout/VerticalCurvedList"/>
    <dgm:cxn modelId="{8A6C7EE8-365E-4652-936B-2177F8ADC638}" type="presParOf" srcId="{50532547-1BE4-482B-82B4-F3EDCBC648B6}" destId="{0426EB69-886E-4A8D-A7A0-8CFE63C1A38E}" srcOrd="2" destOrd="0" presId="urn:microsoft.com/office/officeart/2008/layout/VerticalCurvedList"/>
    <dgm:cxn modelId="{89B5BB0C-64C0-43D4-AFEF-2657FBEC10EA}" type="presParOf" srcId="{0426EB69-886E-4A8D-A7A0-8CFE63C1A38E}" destId="{A4F5A6A5-C2CF-4798-B588-3F984A7918E9}" srcOrd="0" destOrd="0" presId="urn:microsoft.com/office/officeart/2008/layout/VerticalCurvedList"/>
    <dgm:cxn modelId="{11E02F66-EF8A-44E4-8ABA-C5654C21CAED}" type="presParOf" srcId="{50532547-1BE4-482B-82B4-F3EDCBC648B6}" destId="{A495C7DF-5BEF-470C-B0D6-5BD0F1CADEE4}" srcOrd="3" destOrd="0" presId="urn:microsoft.com/office/officeart/2008/layout/VerticalCurvedList"/>
    <dgm:cxn modelId="{C70CBC28-B1A4-4261-906A-7383B2CE33B5}" type="presParOf" srcId="{50532547-1BE4-482B-82B4-F3EDCBC648B6}" destId="{9B8356A3-7372-4380-887C-9CF155E6B3E0}" srcOrd="4" destOrd="0" presId="urn:microsoft.com/office/officeart/2008/layout/VerticalCurvedList"/>
    <dgm:cxn modelId="{B024C6AE-0677-44D5-ABE7-2870D06A4497}" type="presParOf" srcId="{9B8356A3-7372-4380-887C-9CF155E6B3E0}" destId="{BA50B03B-DC8C-4A53-917D-0BBBC330D170}" srcOrd="0" destOrd="0" presId="urn:microsoft.com/office/officeart/2008/layout/VerticalCurvedList"/>
    <dgm:cxn modelId="{78633F06-7E2E-4B85-9E1E-66A6123A91D5}" type="presParOf" srcId="{50532547-1BE4-482B-82B4-F3EDCBC648B6}" destId="{EFD791C8-FE8B-481C-B110-B1E6983B1C5D}" srcOrd="5" destOrd="0" presId="urn:microsoft.com/office/officeart/2008/layout/VerticalCurvedList"/>
    <dgm:cxn modelId="{0D91AC75-F804-42CA-93CA-6B107C111BFC}" type="presParOf" srcId="{50532547-1BE4-482B-82B4-F3EDCBC648B6}" destId="{F1729422-E61C-43E2-A661-43B287ADB292}" srcOrd="6" destOrd="0" presId="urn:microsoft.com/office/officeart/2008/layout/VerticalCurvedList"/>
    <dgm:cxn modelId="{D628A044-E11B-49D6-86A2-35F7BDB91619}" type="presParOf" srcId="{F1729422-E61C-43E2-A661-43B287ADB292}" destId="{ED0349D6-9419-4032-A600-3B825502FBCB}" srcOrd="0" destOrd="0" presId="urn:microsoft.com/office/officeart/2008/layout/VerticalCurvedList"/>
    <dgm:cxn modelId="{81CE5565-78EC-40A2-9611-DF891A60C36E}" type="presParOf" srcId="{50532547-1BE4-482B-82B4-F3EDCBC648B6}" destId="{C43B52F2-B31F-4214-80F3-98F8262DD9C8}" srcOrd="7" destOrd="0" presId="urn:microsoft.com/office/officeart/2008/layout/VerticalCurvedList"/>
    <dgm:cxn modelId="{EFFC68BD-C064-48D0-B93C-3BEF4AD2919E}" type="presParOf" srcId="{50532547-1BE4-482B-82B4-F3EDCBC648B6}" destId="{DAE7EC59-D38E-45DA-9729-BF662AE60615}" srcOrd="8" destOrd="0" presId="urn:microsoft.com/office/officeart/2008/layout/VerticalCurvedList"/>
    <dgm:cxn modelId="{42B5ED2F-43A4-4F0F-AAE4-7FEAFB515BBD}" type="presParOf" srcId="{DAE7EC59-D38E-45DA-9729-BF662AE60615}" destId="{3C3FABE0-0C15-4641-A5F6-3FD4648014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3F4830-5CD4-4C71-985C-0708E9B0BE14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8450B70-D18C-4E1D-97E9-FA8BA06091D9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Generating a Hash</a:t>
          </a:r>
        </a:p>
      </dgm:t>
      <dgm:extLst>
        <a:ext uri="{E40237B7-FDA0-4F09-8148-C483321AD2D9}">
          <dgm14:cNvPr xmlns:dgm14="http://schemas.microsoft.com/office/drawing/2010/diagram" id="0" name="" title="Group A title"/>
        </a:ext>
      </dgm:extLst>
    </dgm:pt>
    <dgm:pt modelId="{D3A29EAE-789C-47E5-9852-BCEC72920C67}" type="parTrans" cxnId="{E5063A27-7015-42DC-B1DA-489D94936D4B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5476BBDE-A636-40EE-8272-09D0B7700854}" type="sibTrans" cxnId="{E5063A27-7015-42DC-B1DA-489D94936D4B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F20117B0-FCD8-4927-B2D0-4FE779DC2A9B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Creating a wordlist</a:t>
          </a:r>
        </a:p>
      </dgm:t>
      <dgm:extLst>
        <a:ext uri="{E40237B7-FDA0-4F09-8148-C483321AD2D9}">
          <dgm14:cNvPr xmlns:dgm14="http://schemas.microsoft.com/office/drawing/2010/diagram" id="0" name="" title="Group B title"/>
        </a:ext>
      </dgm:extLst>
    </dgm:pt>
    <dgm:pt modelId="{B7B5CF59-8994-46C1-B996-2D89DD31FA35}" type="parTrans" cxnId="{616F7DC2-8C47-419A-9301-3002DA2ECB22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73C4C127-0365-4ABF-A0E4-A1536DE07080}" type="sibTrans" cxnId="{616F7DC2-8C47-419A-9301-3002DA2ECB22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0D636056-30D8-4434-99F7-E38A6E2B8161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Executing John the Ripper</a:t>
          </a:r>
        </a:p>
      </dgm:t>
      <dgm:extLst>
        <a:ext uri="{E40237B7-FDA0-4F09-8148-C483321AD2D9}">
          <dgm14:cNvPr xmlns:dgm14="http://schemas.microsoft.com/office/drawing/2010/diagram" id="0" name="" title="Group C title"/>
        </a:ext>
      </dgm:extLst>
    </dgm:pt>
    <dgm:pt modelId="{BB5BFE0E-B039-45BE-BD5F-A1F8AB17574F}" type="parTrans" cxnId="{509F2F7C-8BDB-46E3-A012-91E3DFD74DCA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29834D85-C3E6-4A35-9EB5-194ABE6020BC}" type="sibTrans" cxnId="{509F2F7C-8BDB-46E3-A012-91E3DFD74DCA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08ECF78B-FAD5-4D9C-8E49-B3383B679E74}" type="pres">
      <dgm:prSet presAssocID="{A33F4830-5CD4-4C71-985C-0708E9B0BE14}" presName="rootnode" presStyleCnt="0">
        <dgm:presLayoutVars>
          <dgm:chMax/>
          <dgm:chPref/>
          <dgm:dir/>
          <dgm:animLvl val="lvl"/>
        </dgm:presLayoutVars>
      </dgm:prSet>
      <dgm:spPr/>
    </dgm:pt>
    <dgm:pt modelId="{CA25F1EE-EBF1-4624-880B-D3BCF13A2F47}" type="pres">
      <dgm:prSet presAssocID="{98450B70-D18C-4E1D-97E9-FA8BA06091D9}" presName="composite" presStyleCnt="0"/>
      <dgm:spPr/>
    </dgm:pt>
    <dgm:pt modelId="{1DBDDA96-9BFE-4E8D-B03A-B2FB6EE49E38}" type="pres">
      <dgm:prSet presAssocID="{98450B70-D18C-4E1D-97E9-FA8BA06091D9}" presName="bentUpArrow1" presStyleLbl="alignImgPlace1" presStyleIdx="0" presStyleCnt="2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extLst>
        <a:ext uri="{E40237B7-FDA0-4F09-8148-C483321AD2D9}">
          <dgm14:cNvPr xmlns:dgm14="http://schemas.microsoft.com/office/drawing/2010/diagram" id="0" name="" title="Group A to Group B"/>
        </a:ext>
      </dgm:extLst>
    </dgm:pt>
    <dgm:pt modelId="{E2700167-FF4B-4025-A48B-3CB1A8B5F4C4}" type="pres">
      <dgm:prSet presAssocID="{98450B70-D18C-4E1D-97E9-FA8BA06091D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00BB2B3-43BF-4BBF-B8B9-75901CCFACA5}" type="pres">
      <dgm:prSet presAssocID="{98450B70-D18C-4E1D-97E9-FA8BA06091D9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39CB33E-F6DE-4B22-86E1-389888939D48}" type="pres">
      <dgm:prSet presAssocID="{5476BBDE-A636-40EE-8272-09D0B7700854}" presName="sibTrans" presStyleCnt="0"/>
      <dgm:spPr/>
    </dgm:pt>
    <dgm:pt modelId="{0B9F427B-E521-4A0D-A610-47D9D62FF434}" type="pres">
      <dgm:prSet presAssocID="{F20117B0-FCD8-4927-B2D0-4FE779DC2A9B}" presName="composite" presStyleCnt="0"/>
      <dgm:spPr/>
    </dgm:pt>
    <dgm:pt modelId="{CB65E7BF-26FC-4997-A604-64C56983E379}" type="pres">
      <dgm:prSet presAssocID="{F20117B0-FCD8-4927-B2D0-4FE779DC2A9B}" presName="bentUpArrow1" presStyleLbl="alignImgPlace1" presStyleIdx="1" presStyleCnt="2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extLst>
        <a:ext uri="{E40237B7-FDA0-4F09-8148-C483321AD2D9}">
          <dgm14:cNvPr xmlns:dgm14="http://schemas.microsoft.com/office/drawing/2010/diagram" id="0" name="" title="Group B to Group C"/>
        </a:ext>
      </dgm:extLst>
    </dgm:pt>
    <dgm:pt modelId="{1D736981-5D82-4672-9205-279958AACFE2}" type="pres">
      <dgm:prSet presAssocID="{F20117B0-FCD8-4927-B2D0-4FE779DC2A9B}" presName="ParentText" presStyleLbl="node1" presStyleIdx="1" presStyleCnt="3" custLinFactNeighborX="-1837">
        <dgm:presLayoutVars>
          <dgm:chMax val="1"/>
          <dgm:chPref val="1"/>
          <dgm:bulletEnabled val="1"/>
        </dgm:presLayoutVars>
      </dgm:prSet>
      <dgm:spPr/>
    </dgm:pt>
    <dgm:pt modelId="{5812CCDB-7FE7-42D3-9D84-BC2F375234DF}" type="pres">
      <dgm:prSet presAssocID="{F20117B0-FCD8-4927-B2D0-4FE779DC2A9B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11E7C21B-758A-4A9D-8566-914D35C1B9FC}" type="pres">
      <dgm:prSet presAssocID="{73C4C127-0365-4ABF-A0E4-A1536DE07080}" presName="sibTrans" presStyleCnt="0"/>
      <dgm:spPr/>
    </dgm:pt>
    <dgm:pt modelId="{27AC4152-3790-436F-BE68-EF7D8416D588}" type="pres">
      <dgm:prSet presAssocID="{0D636056-30D8-4434-99F7-E38A6E2B8161}" presName="composite" presStyleCnt="0"/>
      <dgm:spPr/>
    </dgm:pt>
    <dgm:pt modelId="{AE7ECB50-F4B1-47FD-BE6E-79C06FC25BB6}" type="pres">
      <dgm:prSet presAssocID="{0D636056-30D8-4434-99F7-E38A6E2B8161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E5063A27-7015-42DC-B1DA-489D94936D4B}" srcId="{A33F4830-5CD4-4C71-985C-0708E9B0BE14}" destId="{98450B70-D18C-4E1D-97E9-FA8BA06091D9}" srcOrd="0" destOrd="0" parTransId="{D3A29EAE-789C-47E5-9852-BCEC72920C67}" sibTransId="{5476BBDE-A636-40EE-8272-09D0B7700854}"/>
    <dgm:cxn modelId="{30F28D69-C421-42F6-81F5-B07C3AE9930C}" type="presOf" srcId="{A33F4830-5CD4-4C71-985C-0708E9B0BE14}" destId="{08ECF78B-FAD5-4D9C-8E49-B3383B679E74}" srcOrd="0" destOrd="0" presId="urn:microsoft.com/office/officeart/2005/8/layout/StepDownProcess"/>
    <dgm:cxn modelId="{509F2F7C-8BDB-46E3-A012-91E3DFD74DCA}" srcId="{A33F4830-5CD4-4C71-985C-0708E9B0BE14}" destId="{0D636056-30D8-4434-99F7-E38A6E2B8161}" srcOrd="2" destOrd="0" parTransId="{BB5BFE0E-B039-45BE-BD5F-A1F8AB17574F}" sibTransId="{29834D85-C3E6-4A35-9EB5-194ABE6020BC}"/>
    <dgm:cxn modelId="{B0AEEB88-5C20-4D17-8B31-F9DDE87A6EE5}" type="presOf" srcId="{98450B70-D18C-4E1D-97E9-FA8BA06091D9}" destId="{E2700167-FF4B-4025-A48B-3CB1A8B5F4C4}" srcOrd="0" destOrd="0" presId="urn:microsoft.com/office/officeart/2005/8/layout/StepDownProcess"/>
    <dgm:cxn modelId="{BBFE1DAB-C84D-4021-AC30-C1AC2976C539}" type="presOf" srcId="{F20117B0-FCD8-4927-B2D0-4FE779DC2A9B}" destId="{1D736981-5D82-4672-9205-279958AACFE2}" srcOrd="0" destOrd="0" presId="urn:microsoft.com/office/officeart/2005/8/layout/StepDownProcess"/>
    <dgm:cxn modelId="{616F7DC2-8C47-419A-9301-3002DA2ECB22}" srcId="{A33F4830-5CD4-4C71-985C-0708E9B0BE14}" destId="{F20117B0-FCD8-4927-B2D0-4FE779DC2A9B}" srcOrd="1" destOrd="0" parTransId="{B7B5CF59-8994-46C1-B996-2D89DD31FA35}" sibTransId="{73C4C127-0365-4ABF-A0E4-A1536DE07080}"/>
    <dgm:cxn modelId="{78AA1BCD-5813-402A-B939-9DC94AC402AA}" type="presOf" srcId="{0D636056-30D8-4434-99F7-E38A6E2B8161}" destId="{AE7ECB50-F4B1-47FD-BE6E-79C06FC25BB6}" srcOrd="0" destOrd="0" presId="urn:microsoft.com/office/officeart/2005/8/layout/StepDownProcess"/>
    <dgm:cxn modelId="{F29E68CB-DB17-40C8-A5E8-3AE492D31CB2}" type="presParOf" srcId="{08ECF78B-FAD5-4D9C-8E49-B3383B679E74}" destId="{CA25F1EE-EBF1-4624-880B-D3BCF13A2F47}" srcOrd="0" destOrd="0" presId="urn:microsoft.com/office/officeart/2005/8/layout/StepDownProcess"/>
    <dgm:cxn modelId="{D23640E8-2BAF-47B6-88BC-A3EF6465366C}" type="presParOf" srcId="{CA25F1EE-EBF1-4624-880B-D3BCF13A2F47}" destId="{1DBDDA96-9BFE-4E8D-B03A-B2FB6EE49E38}" srcOrd="0" destOrd="0" presId="urn:microsoft.com/office/officeart/2005/8/layout/StepDownProcess"/>
    <dgm:cxn modelId="{55035472-E4CA-48B1-BF2B-4DAAAB04A364}" type="presParOf" srcId="{CA25F1EE-EBF1-4624-880B-D3BCF13A2F47}" destId="{E2700167-FF4B-4025-A48B-3CB1A8B5F4C4}" srcOrd="1" destOrd="0" presId="urn:microsoft.com/office/officeart/2005/8/layout/StepDownProcess"/>
    <dgm:cxn modelId="{EED632F1-8854-4F71-934F-45F2CEC02E09}" type="presParOf" srcId="{CA25F1EE-EBF1-4624-880B-D3BCF13A2F47}" destId="{B00BB2B3-43BF-4BBF-B8B9-75901CCFACA5}" srcOrd="2" destOrd="0" presId="urn:microsoft.com/office/officeart/2005/8/layout/StepDownProcess"/>
    <dgm:cxn modelId="{5CC4978F-7A2D-4EDA-A34B-45A7F5F6526D}" type="presParOf" srcId="{08ECF78B-FAD5-4D9C-8E49-B3383B679E74}" destId="{939CB33E-F6DE-4B22-86E1-389888939D48}" srcOrd="1" destOrd="0" presId="urn:microsoft.com/office/officeart/2005/8/layout/StepDownProcess"/>
    <dgm:cxn modelId="{C2E107DE-F98D-47D2-84A7-D0DDDA9E558C}" type="presParOf" srcId="{08ECF78B-FAD5-4D9C-8E49-B3383B679E74}" destId="{0B9F427B-E521-4A0D-A610-47D9D62FF434}" srcOrd="2" destOrd="0" presId="urn:microsoft.com/office/officeart/2005/8/layout/StepDownProcess"/>
    <dgm:cxn modelId="{5F313F57-1708-4819-8737-D6829F469464}" type="presParOf" srcId="{0B9F427B-E521-4A0D-A610-47D9D62FF434}" destId="{CB65E7BF-26FC-4997-A604-64C56983E379}" srcOrd="0" destOrd="0" presId="urn:microsoft.com/office/officeart/2005/8/layout/StepDownProcess"/>
    <dgm:cxn modelId="{B7EAA625-4715-4955-9E0E-B102C341C7B0}" type="presParOf" srcId="{0B9F427B-E521-4A0D-A610-47D9D62FF434}" destId="{1D736981-5D82-4672-9205-279958AACFE2}" srcOrd="1" destOrd="0" presId="urn:microsoft.com/office/officeart/2005/8/layout/StepDownProcess"/>
    <dgm:cxn modelId="{32045BE1-54E9-4768-896D-DA17335C9157}" type="presParOf" srcId="{0B9F427B-E521-4A0D-A610-47D9D62FF434}" destId="{5812CCDB-7FE7-42D3-9D84-BC2F375234DF}" srcOrd="2" destOrd="0" presId="urn:microsoft.com/office/officeart/2005/8/layout/StepDownProcess"/>
    <dgm:cxn modelId="{963C884C-1227-4140-B158-31F66ADB330B}" type="presParOf" srcId="{08ECF78B-FAD5-4D9C-8E49-B3383B679E74}" destId="{11E7C21B-758A-4A9D-8566-914D35C1B9FC}" srcOrd="3" destOrd="0" presId="urn:microsoft.com/office/officeart/2005/8/layout/StepDownProcess"/>
    <dgm:cxn modelId="{E24CC220-2306-4B3C-86BD-F564B4C8C13E}" type="presParOf" srcId="{08ECF78B-FAD5-4D9C-8E49-B3383B679E74}" destId="{27AC4152-3790-436F-BE68-EF7D8416D588}" srcOrd="4" destOrd="0" presId="urn:microsoft.com/office/officeart/2005/8/layout/StepDownProcess"/>
    <dgm:cxn modelId="{52628CA3-D475-4246-804F-472C881865C4}" type="presParOf" srcId="{27AC4152-3790-436F-BE68-EF7D8416D588}" destId="{AE7ECB50-F4B1-47FD-BE6E-79C06FC25BB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3312A-9522-4C71-978E-2EE0B404E4BD}">
      <dsp:nvSpPr>
        <dsp:cNvPr id="0" name=""/>
        <dsp:cNvSpPr/>
      </dsp:nvSpPr>
      <dsp:spPr>
        <a:xfrm>
          <a:off x="-4910443" y="-752464"/>
          <a:ext cx="5848329" cy="584832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D78FA-4C08-4AFC-860C-B3C7430F59EA}">
      <dsp:nvSpPr>
        <dsp:cNvPr id="0" name=""/>
        <dsp:cNvSpPr/>
      </dsp:nvSpPr>
      <dsp:spPr>
        <a:xfrm>
          <a:off x="491143" y="333920"/>
          <a:ext cx="9202856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Provides a </a:t>
          </a:r>
          <a:r>
            <a:rPr lang="en-US" sz="2400" b="0" i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wide range of pre-installed cybersecurity tools</a:t>
          </a:r>
          <a:r>
            <a:rPr lang="en-US" sz="2400" b="0" i="0" kern="1200" dirty="0">
              <a:solidFill>
                <a:schemeClr val="bg1"/>
              </a:solidFill>
              <a:latin typeface="+mn-lt"/>
            </a:rPr>
            <a:t>.</a:t>
          </a:r>
          <a:endParaRPr lang="en-US" sz="2400" b="0" kern="1200" dirty="0">
            <a:solidFill>
              <a:schemeClr val="bg1"/>
            </a:solidFill>
            <a:latin typeface="+mn-lt"/>
          </a:endParaRPr>
        </a:p>
      </dsp:txBody>
      <dsp:txXfrm>
        <a:off x="491143" y="333920"/>
        <a:ext cx="9202856" cy="668188"/>
      </dsp:txXfrm>
    </dsp:sp>
    <dsp:sp modelId="{A4F5A6A5-C2CF-4798-B588-3F984A7918E9}">
      <dsp:nvSpPr>
        <dsp:cNvPr id="0" name=""/>
        <dsp:cNvSpPr/>
      </dsp:nvSpPr>
      <dsp:spPr>
        <a:xfrm>
          <a:off x="73525" y="250397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A495C7DF-5BEF-470C-B0D6-5BD0F1CADEE4}">
      <dsp:nvSpPr>
        <dsp:cNvPr id="0" name=""/>
        <dsp:cNvSpPr/>
      </dsp:nvSpPr>
      <dsp:spPr>
        <a:xfrm>
          <a:off x="874231" y="1336377"/>
          <a:ext cx="8819769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designed to adhere to security standards and best practices.</a:t>
          </a:r>
          <a:endParaRPr lang="en-US" sz="3800" b="0" kern="120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sp:txBody>
      <dsp:txXfrm>
        <a:off x="874231" y="1336377"/>
        <a:ext cx="8819769" cy="668188"/>
      </dsp:txXfrm>
    </dsp:sp>
    <dsp:sp modelId="{BA50B03B-DC8C-4A53-917D-0BBBC330D170}">
      <dsp:nvSpPr>
        <dsp:cNvPr id="0" name=""/>
        <dsp:cNvSpPr/>
      </dsp:nvSpPr>
      <dsp:spPr>
        <a:xfrm>
          <a:off x="456613" y="1252853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FD791C8-FE8B-481C-B110-B1E6983B1C5D}">
      <dsp:nvSpPr>
        <dsp:cNvPr id="0" name=""/>
        <dsp:cNvSpPr/>
      </dsp:nvSpPr>
      <dsp:spPr>
        <a:xfrm>
          <a:off x="874231" y="2338834"/>
          <a:ext cx="8819769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based on Debian and provides a high degree of customization.</a:t>
          </a:r>
          <a:endParaRPr lang="en-US" sz="2400" b="0" kern="120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sp:txBody>
      <dsp:txXfrm>
        <a:off x="874231" y="2338834"/>
        <a:ext cx="8819769" cy="668188"/>
      </dsp:txXfrm>
    </dsp:sp>
    <dsp:sp modelId="{ED0349D6-9419-4032-A600-3B825502FBCB}">
      <dsp:nvSpPr>
        <dsp:cNvPr id="0" name=""/>
        <dsp:cNvSpPr/>
      </dsp:nvSpPr>
      <dsp:spPr>
        <a:xfrm>
          <a:off x="456613" y="2255310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43B52F2-B31F-4214-80F3-98F8262DD9C8}">
      <dsp:nvSpPr>
        <dsp:cNvPr id="0" name=""/>
        <dsp:cNvSpPr/>
      </dsp:nvSpPr>
      <dsp:spPr>
        <a:xfrm>
          <a:off x="491143" y="3341290"/>
          <a:ext cx="9202856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specifically built for security testing and assessment.</a:t>
          </a:r>
        </a:p>
      </dsp:txBody>
      <dsp:txXfrm>
        <a:off x="491143" y="3341290"/>
        <a:ext cx="9202856" cy="668188"/>
      </dsp:txXfrm>
    </dsp:sp>
    <dsp:sp modelId="{3C3FABE0-0C15-4641-A5F6-3FD464801447}">
      <dsp:nvSpPr>
        <dsp:cNvPr id="0" name=""/>
        <dsp:cNvSpPr/>
      </dsp:nvSpPr>
      <dsp:spPr>
        <a:xfrm>
          <a:off x="73525" y="3257767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DDA96-9BFE-4E8D-B03A-B2FB6EE49E38}">
      <dsp:nvSpPr>
        <dsp:cNvPr id="0" name=""/>
        <dsp:cNvSpPr/>
      </dsp:nvSpPr>
      <dsp:spPr>
        <a:xfrm rot="5400000">
          <a:off x="281006" y="1326309"/>
          <a:ext cx="1051083" cy="11966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700167-FF4B-4025-A48B-3CB1A8B5F4C4}">
      <dsp:nvSpPr>
        <dsp:cNvPr id="0" name=""/>
        <dsp:cNvSpPr/>
      </dsp:nvSpPr>
      <dsp:spPr>
        <a:xfrm>
          <a:off x="2533" y="161161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Generating a Hash</a:t>
          </a:r>
        </a:p>
      </dsp:txBody>
      <dsp:txXfrm>
        <a:off x="63004" y="221632"/>
        <a:ext cx="1648464" cy="1117585"/>
      </dsp:txXfrm>
    </dsp:sp>
    <dsp:sp modelId="{B00BB2B3-43BF-4BBF-B8B9-75901CCFACA5}">
      <dsp:nvSpPr>
        <dsp:cNvPr id="0" name=""/>
        <dsp:cNvSpPr/>
      </dsp:nvSpPr>
      <dsp:spPr>
        <a:xfrm>
          <a:off x="1771939" y="279283"/>
          <a:ext cx="1286897" cy="1001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65E7BF-26FC-4997-A604-64C56983E379}">
      <dsp:nvSpPr>
        <dsp:cNvPr id="0" name=""/>
        <dsp:cNvSpPr/>
      </dsp:nvSpPr>
      <dsp:spPr>
        <a:xfrm rot="5400000">
          <a:off x="1748032" y="2717584"/>
          <a:ext cx="1051083" cy="11966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36981-5D82-4672-9205-279958AACFE2}">
      <dsp:nvSpPr>
        <dsp:cNvPr id="0" name=""/>
        <dsp:cNvSpPr/>
      </dsp:nvSpPr>
      <dsp:spPr>
        <a:xfrm>
          <a:off x="1437055" y="1552436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Creating a wordlist</a:t>
          </a:r>
        </a:p>
      </dsp:txBody>
      <dsp:txXfrm>
        <a:off x="1497526" y="1612907"/>
        <a:ext cx="1648464" cy="1117585"/>
      </dsp:txXfrm>
    </dsp:sp>
    <dsp:sp modelId="{5812CCDB-7FE7-42D3-9D84-BC2F375234DF}">
      <dsp:nvSpPr>
        <dsp:cNvPr id="0" name=""/>
        <dsp:cNvSpPr/>
      </dsp:nvSpPr>
      <dsp:spPr>
        <a:xfrm>
          <a:off x="3238965" y="1670558"/>
          <a:ext cx="1286897" cy="1001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ECB50-F4B1-47FD-BE6E-79C06FC25BB6}">
      <dsp:nvSpPr>
        <dsp:cNvPr id="0" name=""/>
        <dsp:cNvSpPr/>
      </dsp:nvSpPr>
      <dsp:spPr>
        <a:xfrm>
          <a:off x="2936585" y="2943711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Executing John the Ripper</a:t>
          </a:r>
        </a:p>
      </dsp:txBody>
      <dsp:txXfrm>
        <a:off x="2997056" y="3004182"/>
        <a:ext cx="1648464" cy="1117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5/26/2026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5/26/2026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3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550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 descr="Map of World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5/26/2026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ryptera.se/john-the-ripper-1-8-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wall.com/john/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pages.nist.gov/800-63-3/sp800-63b.html" TargetMode="External"/><Relationship Id="rId5" Type="http://schemas.openxmlformats.org/officeDocument/2006/relationships/hyperlink" Target="https://cheatsheetseries.owasp.org/cheatsheets/Password_Storage_Cheat_Sheet.html" TargetMode="External"/><Relationship Id="rId4" Type="http://schemas.openxmlformats.org/officeDocument/2006/relationships/hyperlink" Target="https://www.kali.org/tools/joh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4D40-AC8B-48B0-8EC0-50EA013FD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/>
          <a:p>
            <a:r>
              <a:rPr sz="8000"/>
              <a:t>John the Ripper</a:t>
            </a:r>
            <a:endParaRPr lang="en-PK" sz="8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7770D7-9600-4733-9ACA-22A2E03FF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0113" y="5029200"/>
            <a:ext cx="7848600" cy="1143000"/>
          </a:xfrm>
        </p:spPr>
        <p:txBody>
          <a:bodyPr>
            <a:normAutofit/>
          </a:bodyPr>
          <a:lstStyle/>
          <a:p>
            <a:r>
              <a:rPr sz="2800"/>
              <a:t>Cracking Password Hashes in Kali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714" y="5989320"/>
            <a:ext cx="5044971" cy="30777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</a:rPr>
              <a:t>Academic lab demonstration using dummy hashes only</a:t>
            </a:r>
          </a:p>
        </p:txBody>
      </p:sp>
    </p:spTree>
    <p:extLst>
      <p:ext uri="{BB962C8B-B14F-4D97-AF65-F5344CB8AC3E}">
        <p14:creationId xmlns:p14="http://schemas.microsoft.com/office/powerpoint/2010/main" val="128582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Benefits of Kali Linux</a:t>
            </a:r>
          </a:p>
          <a:p>
            <a:r>
              <a:rPr sz="2800"/>
              <a:t>Overview of John the Ripper</a:t>
            </a:r>
          </a:p>
          <a:p>
            <a:r>
              <a:rPr sz="2800"/>
              <a:t>Understanding Password Hashes</a:t>
            </a:r>
          </a:p>
          <a:p>
            <a:r>
              <a:rPr sz="2800"/>
              <a:t>Process of Using John the Ripper</a:t>
            </a:r>
          </a:p>
          <a:p>
            <a:r>
              <a:rPr sz="2800"/>
              <a:t>Cracking a Dummy Password</a:t>
            </a:r>
          </a:p>
          <a:p>
            <a:r>
              <a:rPr sz="2800"/>
              <a:t>Johnny GUI for John</a:t>
            </a:r>
          </a:p>
          <a:p>
            <a:r>
              <a:rPr sz="2800"/>
              <a:t>Mitigation Against Hash Cracking Risks</a:t>
            </a:r>
          </a:p>
        </p:txBody>
      </p:sp>
    </p:spTree>
    <p:extLst>
      <p:ext uri="{BB962C8B-B14F-4D97-AF65-F5344CB8AC3E}">
        <p14:creationId xmlns:p14="http://schemas.microsoft.com/office/powerpoint/2010/main" val="2936978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t>Benefits of Kali Linux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09FF4-2026-4321-9DC6-130935127F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133671"/>
              </p:ext>
            </p:extLst>
          </p:nvPr>
        </p:nvGraphicFramePr>
        <p:xfrm>
          <a:off x="1217613" y="1828800"/>
          <a:ext cx="9753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359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1FDA-D993-4D02-8F5C-92274D32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917358" cy="1325562"/>
          </a:xfrm>
        </p:spPr>
        <p:txBody>
          <a:bodyPr/>
          <a:lstStyle/>
          <a:p>
            <a:r>
              <a:t>Introducing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0109-C118-4F46-8152-B23D8E22A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8405190" cy="4343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sz="2400" dirty="0"/>
              <a:t>John the Ripper is a password auditing and recovery tool.</a:t>
            </a:r>
          </a:p>
          <a:p>
            <a:r>
              <a:rPr sz="2400" b="1" dirty="0"/>
              <a:t>Powerful Tool: </a:t>
            </a:r>
            <a:r>
              <a:rPr sz="2400" dirty="0"/>
              <a:t>Used by security professionals to test password strength.</a:t>
            </a:r>
          </a:p>
          <a:p>
            <a:r>
              <a:rPr sz="2400" b="1" dirty="0"/>
              <a:t>Variety of Algorithms: </a:t>
            </a:r>
            <a:r>
              <a:rPr sz="2400" dirty="0"/>
              <a:t>Supports many hash formats and cracking modes.</a:t>
            </a:r>
          </a:p>
          <a:p>
            <a:r>
              <a:rPr sz="2400" b="1" dirty="0"/>
              <a:t>Multiple Attack Methods: </a:t>
            </a:r>
            <a:r>
              <a:rPr sz="2400" dirty="0"/>
              <a:t>Supports wordlists, rules, masks, and incremental cracking.</a:t>
            </a:r>
          </a:p>
          <a:p>
            <a:r>
              <a:rPr sz="2400" b="1" dirty="0"/>
              <a:t>Customization: </a:t>
            </a:r>
            <a:r>
              <a:rPr sz="2400" dirty="0"/>
              <a:t>Allows controlled cracking sessions with selected rules and wordlists.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BD6F43-D4E4-494C-BF02-1AE7361E6966}"/>
              </a:ext>
            </a:extLst>
          </p:cNvPr>
          <p:cNvGrpSpPr/>
          <p:nvPr/>
        </p:nvGrpSpPr>
        <p:grpSpPr>
          <a:xfrm>
            <a:off x="9622804" y="1499002"/>
            <a:ext cx="1903640" cy="2434054"/>
            <a:chOff x="9877957" y="1600200"/>
            <a:chExt cx="1903640" cy="2434054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37C42A-9C4D-4DE8-A1BE-9C4277D3B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9877957" y="1600200"/>
              <a:ext cx="1903640" cy="2020788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3E0B8B-B9E0-43A1-87C2-3FC9342EF9FF}"/>
                </a:ext>
              </a:extLst>
            </p:cNvPr>
            <p:cNvSpPr txBox="1"/>
            <p:nvPr/>
          </p:nvSpPr>
          <p:spPr>
            <a:xfrm>
              <a:off x="9877957" y="3664922"/>
              <a:ext cx="1903640" cy="369332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r>
                <a:rPr lang="en-PK" sz="900" dirty="0">
                  <a:solidFill>
                    <a:srgbClr val="0070C0"/>
                  </a:solidFill>
                  <a:hlinkClick r:id="rId3" tooltip="https://kryptera.se/john-the-ripper-1-8-0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This Photo</a:t>
              </a:r>
              <a:r>
                <a:rPr lang="en-PK" sz="900" dirty="0">
                  <a:solidFill>
                    <a:srgbClr val="0070C0"/>
                  </a:solidFill>
                </a:rPr>
                <a:t> </a:t>
              </a:r>
              <a:r>
                <a:rPr lang="en-PK" sz="900" dirty="0"/>
                <a:t>by Unknown Author is licensed under </a:t>
              </a:r>
              <a:r>
                <a:rPr lang="en-PK" sz="900" dirty="0">
                  <a:solidFill>
                    <a:srgbClr val="0070C0"/>
                  </a:solidFill>
                  <a:hlinkClick r:id="rId4" tooltip="https://creativecommons.org/licenses/by/3.0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PK" sz="9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87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CA5B-FB4A-482D-AC5F-BEE2B9F3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10277398" cy="1325562"/>
          </a:xfrm>
        </p:spPr>
        <p:txBody>
          <a:bodyPr anchor="ctr"/>
          <a:lstStyle/>
          <a:p>
            <a:r>
              <a:t>Reasons to Use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4CB0-1B86-481D-AB58-08499E37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Works with </a:t>
            </a:r>
            <a:r>
              <a:rPr lang="en-US" sz="2400" b="1" dirty="0"/>
              <a:t>Unix, Windows &amp; Kerberos</a:t>
            </a:r>
          </a:p>
          <a:p>
            <a:r>
              <a:rPr lang="en-US" sz="2400" dirty="0"/>
              <a:t>Also compatible with </a:t>
            </a:r>
            <a:r>
              <a:rPr lang="en-US" sz="2400" b="1" dirty="0"/>
              <a:t>LDAP, MySQL &amp; MD4 </a:t>
            </a:r>
            <a:r>
              <a:rPr lang="en-US" sz="2400" dirty="0"/>
              <a:t>with the addition of extra modules</a:t>
            </a:r>
          </a:p>
          <a:p>
            <a:r>
              <a:rPr lang="en-US" sz="2400" dirty="0"/>
              <a:t>Popular </a:t>
            </a:r>
            <a:r>
              <a:rPr lang="en-US" sz="2400" b="1" dirty="0"/>
              <a:t>password cracking tool</a:t>
            </a:r>
          </a:p>
          <a:p>
            <a:r>
              <a:rPr lang="en-US" sz="2400" dirty="0"/>
              <a:t>Preferred by </a:t>
            </a:r>
            <a:r>
              <a:rPr lang="en-US" sz="2400" b="1" dirty="0"/>
              <a:t>pentesters</a:t>
            </a:r>
          </a:p>
          <a:p>
            <a:r>
              <a:rPr lang="en-US" sz="2400" dirty="0"/>
              <a:t>Accessible on </a:t>
            </a:r>
            <a:r>
              <a:rPr lang="en-US" sz="2400" b="1" dirty="0"/>
              <a:t>multiple platforms</a:t>
            </a:r>
          </a:p>
          <a:p>
            <a:r>
              <a:rPr lang="en-US" sz="2400" b="1" dirty="0"/>
              <a:t>Auto-detects</a:t>
            </a:r>
            <a:r>
              <a:rPr lang="en-US" sz="2400" dirty="0"/>
              <a:t> password hash types</a:t>
            </a:r>
          </a:p>
          <a:p>
            <a:r>
              <a:rPr lang="en-US" sz="2400" dirty="0"/>
              <a:t>Can crack </a:t>
            </a:r>
            <a:r>
              <a:rPr lang="en-US" sz="2400" b="1" dirty="0"/>
              <a:t>multi-encrypted formats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211153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7614" y="274638"/>
            <a:ext cx="10781454" cy="13255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Understanding Password Hashes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509206" cy="4343400"/>
          </a:xfrm>
        </p:spPr>
        <p:txBody>
          <a:bodyPr>
            <a:noAutofit/>
          </a:bodyPr>
          <a:lstStyle/>
          <a:p>
            <a:pPr marL="342900" indent="-342900"/>
            <a:r>
              <a:rPr sz="2300"/>
              <a:t>Password hashes are transformed values created from plaintext passwords.</a:t>
            </a:r>
          </a:p>
          <a:p>
            <a:r>
              <a:rPr sz="2300"/>
              <a:t>Systems store hashes instead of plaintext credentials.</a:t>
            </a:r>
          </a:p>
          <a:p>
            <a:r>
              <a:rPr sz="2300"/>
              <a:t>Hashing improves storage security, but it does not make weak passwords safe.</a:t>
            </a:r>
          </a:p>
          <a:p>
            <a:r>
              <a:rPr sz="2300"/>
              <a:t>If attackers obtain hashes, predictable passwords may still be recovered.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1EDA5-3347-40FE-8446-AE602D287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483" y="2420888"/>
            <a:ext cx="4967235" cy="159835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50280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A7D07F-DA4C-476E-B97F-3EF759E9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4506" y="616553"/>
            <a:ext cx="9999812" cy="5624894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51056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10493422" cy="1325562"/>
          </a:xfrm>
        </p:spPr>
        <p:txBody>
          <a:bodyPr anchor="ctr">
            <a:normAutofit/>
          </a:bodyPr>
          <a:lstStyle/>
          <a:p>
            <a:r>
              <a:t>Process of Using John the Ripper</a:t>
            </a:r>
          </a:p>
        </p:txBody>
      </p:sp>
      <p:graphicFrame>
        <p:nvGraphicFramePr>
          <p:cNvPr id="5" name="Content Placeholder 4" descr="Step down process diagram showing sequence of 3 steps in descending order with tasks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3411216"/>
              </p:ext>
            </p:extLst>
          </p:nvPr>
        </p:nvGraphicFramePr>
        <p:xfrm>
          <a:off x="6262688" y="1556792"/>
          <a:ext cx="4708525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sz="2400"/>
              <a:t>First, we create a dummy password hash</a:t>
            </a:r>
          </a:p>
          <a:p>
            <a:endParaRPr sz="2400"/>
          </a:p>
          <a:p>
            <a:r>
              <a:rPr sz="2400"/>
              <a:t>Then, we will create a wordlist that is suitable for the target password</a:t>
            </a:r>
          </a:p>
          <a:p>
            <a:endParaRPr sz="2400"/>
          </a:p>
          <a:p>
            <a:r>
              <a:rPr sz="2400"/>
              <a:t>Finally, we use John to test whether the dummy password can be recovered.</a:t>
            </a:r>
          </a:p>
        </p:txBody>
      </p:sp>
    </p:spTree>
    <p:extLst>
      <p:ext uri="{BB962C8B-B14F-4D97-AF65-F5344CB8AC3E}">
        <p14:creationId xmlns:p14="http://schemas.microsoft.com/office/powerpoint/2010/main" val="14178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2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2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t>Generating a Hash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432445" cy="4754562"/>
          </a:xfrm>
        </p:spPr>
        <p:txBody>
          <a:bodyPr>
            <a:noAutofit/>
          </a:bodyPr>
          <a:lstStyle/>
          <a:p>
            <a:r>
              <a:rPr sz="2400" dirty="0"/>
              <a:t>We need to create a password hash that we will crack later on.</a:t>
            </a:r>
          </a:p>
          <a:p>
            <a:r>
              <a:rPr sz="2400" dirty="0"/>
              <a:t>We will generate an MD5 hash because it is fast to test in a beginner-level lab environment.</a:t>
            </a:r>
          </a:p>
          <a:p>
            <a:r>
              <a:rPr sz="2400" dirty="0"/>
              <a:t>John supports many hash formats depending on the installed version and available modules. MD5 is used here only for a quick lab demonstration.</a:t>
            </a:r>
          </a:p>
          <a:p>
            <a:r>
              <a:rPr sz="2400" dirty="0"/>
              <a:t>We save this hash in a text file for John to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975C9-B88A-44A6-944C-6D9A3587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476" y="2311582"/>
            <a:ext cx="4923253" cy="291761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D8569F-C839-43D5-9FFA-05032B95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540" y="2677221"/>
            <a:ext cx="1476375" cy="5429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312F-1C38-40C2-8528-771D966C25DB}"/>
              </a:ext>
            </a:extLst>
          </p:cNvPr>
          <p:cNvGrpSpPr/>
          <p:nvPr/>
        </p:nvGrpSpPr>
        <p:grpSpPr>
          <a:xfrm>
            <a:off x="6958508" y="1935240"/>
            <a:ext cx="3483093" cy="1034681"/>
            <a:chOff x="6958508" y="1935240"/>
            <a:chExt cx="3483093" cy="1034681"/>
          </a:xfrm>
        </p:grpSpPr>
        <p:cxnSp>
          <p:nvCxnSpPr>
            <p:cNvPr id="6" name="Curved Connector 19">
              <a:extLst>
                <a:ext uri="{FF2B5EF4-FFF2-40B4-BE49-F238E27FC236}">
                  <a16:creationId xmlns:a16="http://schemas.microsoft.com/office/drawing/2014/main" id="{F638C39F-6C01-4F35-AA44-A4DAF2FD34E9}"/>
                </a:ext>
              </a:extLst>
            </p:cNvPr>
            <p:cNvCxnSpPr/>
            <p:nvPr/>
          </p:nvCxnSpPr>
          <p:spPr>
            <a:xfrm rot="10800000" flipV="1">
              <a:off x="6958508" y="2105825"/>
              <a:ext cx="1440160" cy="864096"/>
            </a:xfrm>
            <a:prstGeom prst="curvedConnector3">
              <a:avLst>
                <a:gd name="adj1" fmla="val 138626"/>
              </a:avLst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C98E81-1DC5-414A-B731-F584256350D2}"/>
                </a:ext>
              </a:extLst>
            </p:cNvPr>
            <p:cNvSpPr txBox="1"/>
            <p:nvPr/>
          </p:nvSpPr>
          <p:spPr>
            <a:xfrm>
              <a:off x="8281361" y="1935240"/>
              <a:ext cx="2160240" cy="3416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GB" dirty="0">
                  <a:solidFill>
                    <a:srgbClr val="FF0000"/>
                  </a:solidFill>
                  <a:latin typeface="Consolas" panose="020B0609020204030204" pitchFamily="49" charset="0"/>
                </a:rPr>
                <a:t>Dummy Password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13C78CD-6A7F-450A-BEA6-B0B410C8C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06" y="3995628"/>
            <a:ext cx="5162550" cy="10382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69DEA86-47DA-429A-B978-B7FEEF7FD1AD}"/>
              </a:ext>
            </a:extLst>
          </p:cNvPr>
          <p:cNvGrpSpPr/>
          <p:nvPr/>
        </p:nvGrpSpPr>
        <p:grpSpPr>
          <a:xfrm>
            <a:off x="6780206" y="3463348"/>
            <a:ext cx="2036710" cy="742733"/>
            <a:chOff x="6780206" y="3463348"/>
            <a:chExt cx="2036710" cy="742733"/>
          </a:xfrm>
        </p:grpSpPr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BEDCBFEC-3870-4E44-92AE-F6D21DEC8CF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644277" y="3811730"/>
              <a:ext cx="405800" cy="382901"/>
            </a:xfrm>
            <a:prstGeom prst="curvedConnector3">
              <a:avLst/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EA826E9-FFEA-48BE-97D3-4F34E7FDA83F}"/>
                </a:ext>
              </a:extLst>
            </p:cNvPr>
            <p:cNvSpPr txBox="1"/>
            <p:nvPr/>
          </p:nvSpPr>
          <p:spPr>
            <a:xfrm>
              <a:off x="6780206" y="3463348"/>
              <a:ext cx="203671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Generated</a:t>
              </a:r>
              <a:r>
                <a:rPr lang="en-US" sz="2400" dirty="0"/>
                <a:t> </a:t>
              </a:r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Hash</a:t>
              </a:r>
              <a:endParaRPr lang="en-PK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55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056C-A302-4F62-A4B6-4FF9EAAB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Creating a Wordlist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6A417-68E0-44E2-9F6F-5D9819DC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To create a custom wordlist, we used CUPP. It can be installed with the following commands:</a:t>
            </a:r>
          </a:p>
          <a:p>
            <a:endParaRPr/>
          </a:p>
          <a:p>
            <a:endParaRPr/>
          </a:p>
          <a:p>
            <a:r>
              <a:t>Then, we run cupp -i to generate a wordlist.</a:t>
            </a:r>
          </a:p>
          <a:p>
            <a:r>
              <a:t>CUPP asks the user questions related to the target and then generates a wordlist that contains possible password combinations.</a:t>
            </a:r>
          </a:p>
          <a:p>
            <a:r>
              <a:t>A relevant wordlist helps John test likely password candidates faster.</a:t>
            </a:r>
          </a:p>
          <a:p>
            <a:r>
              <a:t>Other wordlist tools include Crunch and CeWL.</a:t>
            </a:r>
          </a:p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963CB-43F6-4B92-A6CA-D5EC9724694A}"/>
              </a:ext>
            </a:extLst>
          </p:cNvPr>
          <p:cNvSpPr txBox="1"/>
          <p:nvPr/>
        </p:nvSpPr>
        <p:spPr>
          <a:xfrm>
            <a:off x="1629916" y="2525995"/>
            <a:ext cx="3312368" cy="830997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en-GB" sz="2400" dirty="0">
                <a:solidFill>
                  <a:srgbClr val="00B050"/>
                </a:solidFill>
              </a:rPr>
              <a:t>sudo apt update</a:t>
            </a:r>
          </a:p>
          <a:p>
            <a:pPr marL="45720" indent="0">
              <a:buNone/>
            </a:pPr>
            <a:r>
              <a:rPr lang="en-GB" sz="2400" dirty="0">
                <a:solidFill>
                  <a:srgbClr val="00B050"/>
                </a:solidFill>
              </a:rPr>
              <a:t>sudo apt install cupp</a:t>
            </a:r>
          </a:p>
        </p:txBody>
      </p:sp>
    </p:spTree>
    <p:extLst>
      <p:ext uri="{BB962C8B-B14F-4D97-AF65-F5344CB8AC3E}">
        <p14:creationId xmlns:p14="http://schemas.microsoft.com/office/powerpoint/2010/main" val="413472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2A16D-0440-4F63-8581-A118E1EE76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98" t="-403" r="183" b="-405"/>
          <a:stretch/>
        </p:blipFill>
        <p:spPr>
          <a:xfrm>
            <a:off x="765820" y="548680"/>
            <a:ext cx="10585176" cy="576064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F03461-9511-4DAB-A0AC-28CF7141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Visual representation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86771-4A90-46A2-B542-68F1AB16EF6B}"/>
              </a:ext>
            </a:extLst>
          </p:cNvPr>
          <p:cNvSpPr/>
          <p:nvPr/>
        </p:nvSpPr>
        <p:spPr>
          <a:xfrm>
            <a:off x="845169" y="2204864"/>
            <a:ext cx="4961211" cy="2448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FA3897E-1F89-4C86-B77C-0360618932AD}"/>
              </a:ext>
            </a:extLst>
          </p:cNvPr>
          <p:cNvCxnSpPr>
            <a:stCxn id="5" idx="3"/>
          </p:cNvCxnSpPr>
          <p:nvPr/>
        </p:nvCxnSpPr>
        <p:spPr>
          <a:xfrm flipV="1">
            <a:off x="5806380" y="2780928"/>
            <a:ext cx="1152128" cy="648072"/>
          </a:xfrm>
          <a:prstGeom prst="curved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CB35A8-F991-481C-8543-4C59FD51298C}"/>
              </a:ext>
            </a:extLst>
          </p:cNvPr>
          <p:cNvSpPr txBox="1"/>
          <p:nvPr/>
        </p:nvSpPr>
        <p:spPr>
          <a:xfrm>
            <a:off x="6958508" y="2420888"/>
            <a:ext cx="266429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Target’s Information</a:t>
            </a:r>
            <a:endParaRPr lang="en-PK" sz="24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2C12D-0A90-4E2E-9660-D93065F2F2C7}"/>
              </a:ext>
            </a:extLst>
          </p:cNvPr>
          <p:cNvSpPr/>
          <p:nvPr/>
        </p:nvSpPr>
        <p:spPr>
          <a:xfrm>
            <a:off x="845169" y="5405028"/>
            <a:ext cx="5969323" cy="544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AA9B3EA-9EBC-482B-9121-D9741BEBB3C3}"/>
              </a:ext>
            </a:extLst>
          </p:cNvPr>
          <p:cNvCxnSpPr>
            <a:cxnSpLocks/>
          </p:cNvCxnSpPr>
          <p:nvPr/>
        </p:nvCxnSpPr>
        <p:spPr>
          <a:xfrm flipV="1">
            <a:off x="6814492" y="5405028"/>
            <a:ext cx="1296144" cy="261274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6E9191-D8FC-4386-9763-D467011F8BA5}"/>
              </a:ext>
            </a:extLst>
          </p:cNvPr>
          <p:cNvSpPr txBox="1"/>
          <p:nvPr/>
        </p:nvSpPr>
        <p:spPr>
          <a:xfrm>
            <a:off x="8110636" y="5120142"/>
            <a:ext cx="266429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Generated Wordlist</a:t>
            </a:r>
            <a:endParaRPr lang="en-P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17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animBg="1"/>
      <p:bldP spid="8" grpId="0"/>
      <p:bldP spid="9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A128-64F8-43ED-B4D0-F10AA235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Execution of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E06E-C9E0-4FF1-B261-47F5691B4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5282" y="3863947"/>
            <a:ext cx="4850000" cy="5200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sz="2000" b="1" i="0" dirty="0"/>
              <a:t>Demo setup: </a:t>
            </a:r>
            <a:r>
              <a:rPr sz="2000" b="0" i="0" dirty="0"/>
              <a:t>wordlist + hash file + selected format.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74E1F-AFDB-4FE4-B3A7-1C62F1A79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2478" y="1600000"/>
            <a:ext cx="5088517" cy="5200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sz="2000"/>
              <a:t>Generated wordlist preview: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7E6EC-CFFD-4A2A-A438-D7325FFAA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68" r="12983" b="16925"/>
          <a:stretch/>
        </p:blipFill>
        <p:spPr>
          <a:xfrm>
            <a:off x="1341884" y="2346977"/>
            <a:ext cx="4005418" cy="122794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92373-557A-4F4C-8305-40B80EFFF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90" y="4672973"/>
            <a:ext cx="4895006" cy="639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19325-43A0-464A-91BF-145741BB75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1" b="28489"/>
          <a:stretch/>
        </p:blipFill>
        <p:spPr>
          <a:xfrm>
            <a:off x="6382444" y="2286451"/>
            <a:ext cx="4968551" cy="429691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6343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C622-9E91-4EA4-A572-D519F7D4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John's Command Syntax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5F8E4-7A19-480D-B71D-590536473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4057111"/>
            <a:ext cx="10853462" cy="1735088"/>
          </a:xfrm>
        </p:spPr>
        <p:txBody>
          <a:bodyPr>
            <a:noAutofit/>
          </a:bodyPr>
          <a:lstStyle/>
          <a:p>
            <a:r>
              <a:rPr sz="2400" dirty="0"/>
              <a:t>The first input is the wordlist, which was generated using </a:t>
            </a:r>
            <a:r>
              <a:rPr sz="2400" b="1" dirty="0"/>
              <a:t>CUPP</a:t>
            </a:r>
            <a:r>
              <a:rPr sz="2400" dirty="0"/>
              <a:t> for this lab.</a:t>
            </a:r>
          </a:p>
          <a:p>
            <a:r>
              <a:rPr sz="2400" dirty="0"/>
              <a:t>The second input is the hash format. In this demo, the format is </a:t>
            </a:r>
            <a:r>
              <a:rPr sz="2400" b="1" dirty="0"/>
              <a:t>Raw-MD5</a:t>
            </a:r>
            <a:r>
              <a:rPr sz="2400" dirty="0"/>
              <a:t>.</a:t>
            </a:r>
          </a:p>
          <a:p>
            <a:r>
              <a:rPr sz="2400" dirty="0"/>
              <a:t>The final input is the text file that contains the </a:t>
            </a:r>
            <a:r>
              <a:rPr sz="2400" b="1" dirty="0"/>
              <a:t>password hash</a:t>
            </a:r>
            <a:r>
              <a:rPr sz="2400" dirty="0"/>
              <a:t>.</a:t>
            </a:r>
          </a:p>
          <a:p>
            <a:endParaRPr sz="2400" dirty="0"/>
          </a:p>
          <a:p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FADDC-8BDD-4F9A-811C-97CE1264B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08" r="32939" b="38515"/>
          <a:stretch/>
        </p:blipFill>
        <p:spPr>
          <a:xfrm>
            <a:off x="1629916" y="2253532"/>
            <a:ext cx="5616624" cy="158417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2E414-EAE3-8901-22BE-D01A8BCCC3B1}"/>
              </a:ext>
            </a:extLst>
          </p:cNvPr>
          <p:cNvSpPr txBox="1"/>
          <p:nvPr/>
        </p:nvSpPr>
        <p:spPr>
          <a:xfrm>
            <a:off x="1217614" y="1609397"/>
            <a:ext cx="1085346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45454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Following the syntax we will be cracking our dummy password hash.</a:t>
            </a:r>
          </a:p>
        </p:txBody>
      </p:sp>
    </p:spTree>
    <p:extLst>
      <p:ext uri="{BB962C8B-B14F-4D97-AF65-F5344CB8AC3E}">
        <p14:creationId xmlns:p14="http://schemas.microsoft.com/office/powerpoint/2010/main" val="401428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FE17-019C-4177-BC98-64683BD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Cracking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620D-C1F9-4A4D-8DF7-E1D2C2F18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6589326" cy="4343400"/>
          </a:xfrm>
        </p:spPr>
        <p:txBody>
          <a:bodyPr>
            <a:noAutofit/>
          </a:bodyPr>
          <a:lstStyle/>
          <a:p>
            <a:r>
              <a:rPr sz="2400" dirty="0"/>
              <a:t>John compares candidate passwords from the wordlist against the target hash and reports a match if found.</a:t>
            </a:r>
          </a:p>
          <a:p>
            <a:r>
              <a:rPr sz="2400" dirty="0"/>
              <a:t>After finding a match, John can display the recovered dummy password using john --show.</a:t>
            </a:r>
          </a:p>
          <a:p>
            <a:r>
              <a:rPr sz="2400" dirty="0"/>
              <a:t>Larger wordlists take more time, so a short lab wordlist was used for demonstration.</a:t>
            </a:r>
          </a:p>
          <a:p>
            <a:r>
              <a:rPr sz="2400" dirty="0"/>
              <a:t>The hash file path, wordlist path, and hash format must be correct when running John.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8980D80-2970-4B28-B78A-2797F1ED9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" t="19105" r="66250" b="20853"/>
          <a:stretch/>
        </p:blipFill>
        <p:spPr>
          <a:xfrm>
            <a:off x="8040663" y="1830788"/>
            <a:ext cx="3384376" cy="219942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4F9C0C3-F157-49D3-98FB-3F7C06C048AD}"/>
              </a:ext>
            </a:extLst>
          </p:cNvPr>
          <p:cNvGrpSpPr/>
          <p:nvPr/>
        </p:nvGrpSpPr>
        <p:grpSpPr>
          <a:xfrm>
            <a:off x="8040662" y="3068960"/>
            <a:ext cx="3454350" cy="1466060"/>
            <a:chOff x="7608614" y="3068960"/>
            <a:chExt cx="3454350" cy="1466060"/>
          </a:xfrm>
        </p:grpSpPr>
        <p:cxnSp>
          <p:nvCxnSpPr>
            <p:cNvPr id="6" name="Curved Connector 37">
              <a:extLst>
                <a:ext uri="{FF2B5EF4-FFF2-40B4-BE49-F238E27FC236}">
                  <a16:creationId xmlns:a16="http://schemas.microsoft.com/office/drawing/2014/main" id="{C31F1A4D-3871-4975-BDB7-13C31B6B7D0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608616" y="3212976"/>
              <a:ext cx="1222103" cy="1152128"/>
            </a:xfrm>
            <a:prstGeom prst="curvedConnector3">
              <a:avLst>
                <a:gd name="adj1" fmla="val 135323"/>
              </a:avLst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0B33FA-709C-4554-9392-497C3AF3C5B2}"/>
                </a:ext>
              </a:extLst>
            </p:cNvPr>
            <p:cNvSpPr txBox="1"/>
            <p:nvPr/>
          </p:nvSpPr>
          <p:spPr>
            <a:xfrm>
              <a:off x="8758708" y="4221088"/>
              <a:ext cx="2304256" cy="3139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GB" sz="16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Our password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D12625-CFCF-4F67-977C-881A913FE334}"/>
                </a:ext>
              </a:extLst>
            </p:cNvPr>
            <p:cNvSpPr/>
            <p:nvPr/>
          </p:nvSpPr>
          <p:spPr>
            <a:xfrm>
              <a:off x="7608614" y="3068960"/>
              <a:ext cx="1006077" cy="288032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</p:grpSp>
    </p:spTree>
    <p:extLst>
      <p:ext uri="{BB962C8B-B14F-4D97-AF65-F5344CB8AC3E}">
        <p14:creationId xmlns:p14="http://schemas.microsoft.com/office/powerpoint/2010/main" val="16574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00AB-2E77-4A29-A0B7-9ACEB934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Cracking ZIP and PDF Hashes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0780-5D59-4069-AF75-4C619BAF0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919078"/>
          </a:xfrm>
        </p:spPr>
        <p:txBody>
          <a:bodyPr>
            <a:normAutofit/>
          </a:bodyPr>
          <a:lstStyle/>
          <a:p>
            <a:r>
              <a:rPr sz="2400" dirty="0"/>
              <a:t>ZIP and PDF password recovery follows a similar workflow after converting the protected file into a John-readable hash.</a:t>
            </a:r>
          </a:p>
          <a:p>
            <a:endParaRPr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A645AF-0650-4F6D-9830-36C813F4E1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10" r="83083" b="4838"/>
          <a:stretch/>
        </p:blipFill>
        <p:spPr>
          <a:xfrm>
            <a:off x="1701924" y="2880928"/>
            <a:ext cx="5262936" cy="9190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DAC57-23DD-189C-08F9-27EAD655EE43}"/>
              </a:ext>
            </a:extLst>
          </p:cNvPr>
          <p:cNvSpPr txBox="1"/>
          <p:nvPr/>
        </p:nvSpPr>
        <p:spPr>
          <a:xfrm>
            <a:off x="1217614" y="4107283"/>
            <a:ext cx="975360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45454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sz="2400" b="0" i="0" dirty="0">
                <a:solidFill>
                  <a:srgbClr val="545454"/>
                </a:solidFill>
                <a:latin typeface="Century Gothic"/>
              </a:rPr>
              <a:t>The protected file is converted into a John-readable hash using helper tools such as zip2john or pdf2john.</a:t>
            </a:r>
          </a:p>
          <a:p>
            <a:endParaRPr lang="en-GB" sz="2400" b="0" i="0" dirty="0">
              <a:solidFill>
                <a:srgbClr val="545454"/>
              </a:solidFill>
              <a:latin typeface="Century Gothic"/>
            </a:endParaRPr>
          </a:p>
          <a:p>
            <a:r>
              <a:rPr sz="2400" b="0" dirty="0">
                <a:solidFill>
                  <a:srgbClr val="545454"/>
                </a:solidFill>
                <a:latin typeface="Century Gothic"/>
              </a:rPr>
              <a:t>For example</a:t>
            </a:r>
            <a:r>
              <a:rPr sz="2400" b="0" i="0" dirty="0">
                <a:solidFill>
                  <a:srgbClr val="545454"/>
                </a:solidFill>
                <a:latin typeface="Century Gothic"/>
              </a:rPr>
              <a:t>, </a:t>
            </a:r>
            <a:r>
              <a:rPr sz="2400" b="1" i="0" dirty="0">
                <a:solidFill>
                  <a:srgbClr val="545454"/>
                </a:solidFill>
                <a:latin typeface="Century Gothic"/>
              </a:rPr>
              <a:t>zip2john </a:t>
            </a:r>
            <a:r>
              <a:rPr sz="2400" b="0" i="0" dirty="0">
                <a:solidFill>
                  <a:srgbClr val="545454"/>
                </a:solidFill>
                <a:latin typeface="Century Gothic"/>
              </a:rPr>
              <a:t>extracts a ZIP hash and the </a:t>
            </a:r>
            <a:r>
              <a:rPr sz="2400" b="1" i="0" dirty="0">
                <a:solidFill>
                  <a:srgbClr val="545454"/>
                </a:solidFill>
                <a:latin typeface="Century Gothic"/>
              </a:rPr>
              <a:t>&gt; </a:t>
            </a:r>
            <a:r>
              <a:rPr lang="en-GB" sz="2400" b="1" i="0" dirty="0">
                <a:solidFill>
                  <a:srgbClr val="545454"/>
                </a:solidFill>
                <a:latin typeface="Century Gothic"/>
              </a:rPr>
              <a:t>redirection </a:t>
            </a:r>
            <a:r>
              <a:rPr sz="2400" b="1" i="0" dirty="0">
                <a:solidFill>
                  <a:srgbClr val="545454"/>
                </a:solidFill>
                <a:latin typeface="Century Gothic"/>
              </a:rPr>
              <a:t>operator </a:t>
            </a:r>
            <a:r>
              <a:rPr sz="2400" b="0" i="0" dirty="0">
                <a:solidFill>
                  <a:srgbClr val="545454"/>
                </a:solidFill>
                <a:latin typeface="Century Gothic"/>
              </a:rPr>
              <a:t>redirects the output into a text file.</a:t>
            </a:r>
          </a:p>
        </p:txBody>
      </p:sp>
    </p:spTree>
    <p:extLst>
      <p:ext uri="{BB962C8B-B14F-4D97-AF65-F5344CB8AC3E}">
        <p14:creationId xmlns:p14="http://schemas.microsoft.com/office/powerpoint/2010/main" val="337271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7587-DF17-43B8-9926-A62D51DD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Introducing Johnny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6C45-0DA7-4663-AA68-527AD3ECA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515356" cy="4343400"/>
          </a:xfrm>
        </p:spPr>
        <p:txBody>
          <a:bodyPr>
            <a:noAutofit/>
          </a:bodyPr>
          <a:lstStyle/>
          <a:p>
            <a:r>
              <a:rPr sz="2400"/>
              <a:t>Johnny provides a graphical interface for John the Ripper.</a:t>
            </a:r>
          </a:p>
          <a:p>
            <a:r>
              <a:rPr sz="2400"/>
              <a:t>It helps users configure attacks through menus instead of only using commands.</a:t>
            </a:r>
          </a:p>
          <a:p>
            <a:r>
              <a:rPr sz="2400"/>
              <a:t>John is primarily command-line based, while Johnny is GUI-based.</a:t>
            </a:r>
          </a:p>
          <a:p>
            <a:r>
              <a:rPr sz="2400"/>
              <a:t>Both are useful for authorized password auditing and lab demonstrations.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345A8C-A9BB-4E2B-B338-9DAF7D983CF3}"/>
              </a:ext>
            </a:extLst>
          </p:cNvPr>
          <p:cNvGrpSpPr/>
          <p:nvPr/>
        </p:nvGrpSpPr>
        <p:grpSpPr>
          <a:xfrm>
            <a:off x="6748634" y="1828800"/>
            <a:ext cx="4222580" cy="2299078"/>
            <a:chOff x="7750596" y="1828800"/>
            <a:chExt cx="3624740" cy="1765418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489B0C-4375-4398-A678-3C0546E3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0596" y="1828800"/>
              <a:ext cx="3624740" cy="1765418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897C71-3C53-4504-9962-9A58D30D4B78}"/>
                </a:ext>
              </a:extLst>
            </p:cNvPr>
            <p:cNvSpPr/>
            <p:nvPr/>
          </p:nvSpPr>
          <p:spPr>
            <a:xfrm>
              <a:off x="7966620" y="1988840"/>
              <a:ext cx="3168352" cy="72008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</p:grpSp>
    </p:spTree>
    <p:extLst>
      <p:ext uri="{BB962C8B-B14F-4D97-AF65-F5344CB8AC3E}">
        <p14:creationId xmlns:p14="http://schemas.microsoft.com/office/powerpoint/2010/main" val="197619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2E4B-6377-4012-BE0B-F699A92E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dirty="0"/>
              <a:t>Johnny in 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D832-437E-43C2-91E5-8958DD4E5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3709005" cy="4343400"/>
          </a:xfrm>
        </p:spPr>
        <p:txBody>
          <a:bodyPr>
            <a:noAutofit/>
          </a:bodyPr>
          <a:lstStyle/>
          <a:p>
            <a:r>
              <a:rPr sz="2400"/>
              <a:t>Search for Johnny in Kali Linux to open the interface.</a:t>
            </a:r>
          </a:p>
          <a:p>
            <a:r>
              <a:rPr sz="2400"/>
              <a:t>Johnny provides menus for loading password files and selecting options.</a:t>
            </a:r>
          </a:p>
          <a:p>
            <a:r>
              <a:rPr sz="2400"/>
              <a:t>Click on “Open password file” and select the hash text file.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B7D58-51D4-4AA7-A957-3339678B0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3" t="11140" r="54133" b="45799"/>
          <a:stretch/>
        </p:blipFill>
        <p:spPr>
          <a:xfrm>
            <a:off x="4942284" y="1828800"/>
            <a:ext cx="6918174" cy="365447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A7C2EB-40F9-45A4-857B-A8C5B6867A82}"/>
              </a:ext>
            </a:extLst>
          </p:cNvPr>
          <p:cNvSpPr/>
          <p:nvPr/>
        </p:nvSpPr>
        <p:spPr>
          <a:xfrm>
            <a:off x="4942284" y="2276872"/>
            <a:ext cx="1152128" cy="5040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8292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75F2-FE6B-41F8-9FBC-71F1CB1B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dirty="0"/>
              <a:t>Johnny in 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73FC-8291-4FFC-BF99-527D07AAA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628800"/>
            <a:ext cx="9753600" cy="4617887"/>
          </a:xfrm>
        </p:spPr>
        <p:txBody>
          <a:bodyPr>
            <a:normAutofit/>
          </a:bodyPr>
          <a:lstStyle/>
          <a:p>
            <a:r>
              <a:rPr sz="2400"/>
              <a:t>Go to Options and select the wordlist by clicking Browse.</a:t>
            </a:r>
          </a:p>
          <a:p>
            <a:endParaRPr sz="2400"/>
          </a:p>
          <a:p>
            <a:endParaRPr sz="2400"/>
          </a:p>
          <a:p>
            <a:r>
              <a:rPr sz="2400"/>
              <a:t>After selecting the wordlist, choose the correct hash format.</a:t>
            </a:r>
          </a:p>
          <a:p>
            <a:endParaRPr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74792-E69E-4287-8F90-C240CAC81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89" t="19716" r="2062"/>
          <a:stretch/>
        </p:blipFill>
        <p:spPr>
          <a:xfrm>
            <a:off x="1629916" y="4165105"/>
            <a:ext cx="5688632" cy="265764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9B5B743-F38C-CDDC-FBFC-3AD8F4A5C6EE}"/>
              </a:ext>
            </a:extLst>
          </p:cNvPr>
          <p:cNvGrpSpPr/>
          <p:nvPr/>
        </p:nvGrpSpPr>
        <p:grpSpPr>
          <a:xfrm>
            <a:off x="1629916" y="2411013"/>
            <a:ext cx="5688632" cy="817988"/>
            <a:chOff x="1629916" y="2250972"/>
            <a:chExt cx="5688632" cy="8179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7049A2-36F3-4CCA-A13F-89EA03535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1611" r="2058" b="47262"/>
            <a:stretch/>
          </p:blipFill>
          <p:spPr>
            <a:xfrm>
              <a:off x="1629916" y="2276873"/>
              <a:ext cx="5688632" cy="792087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14D7B6-1CF3-491C-A3C2-2BB133A0F810}"/>
                </a:ext>
              </a:extLst>
            </p:cNvPr>
            <p:cNvGrpSpPr/>
            <p:nvPr/>
          </p:nvGrpSpPr>
          <p:grpSpPr>
            <a:xfrm>
              <a:off x="3286100" y="2250972"/>
              <a:ext cx="2019428" cy="529956"/>
              <a:chOff x="3286100" y="2250972"/>
              <a:chExt cx="2019428" cy="52995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AC590E-4E9A-447D-ADE2-7AF75934D4CC}"/>
                  </a:ext>
                </a:extLst>
              </p:cNvPr>
              <p:cNvSpPr/>
              <p:nvPr/>
            </p:nvSpPr>
            <p:spPr>
              <a:xfrm>
                <a:off x="3286100" y="2564904"/>
                <a:ext cx="576064" cy="216024"/>
              </a:xfrm>
              <a:prstGeom prst="rect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 sz="2400"/>
              </a:p>
            </p:txBody>
          </p:sp>
          <p:cxnSp>
            <p:nvCxnSpPr>
              <p:cNvPr id="8" name="Connector: Curved 7">
                <a:extLst>
                  <a:ext uri="{FF2B5EF4-FFF2-40B4-BE49-F238E27FC236}">
                    <a16:creationId xmlns:a16="http://schemas.microsoft.com/office/drawing/2014/main" id="{D69F31F8-9241-441A-9757-9CE2F3C1766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81423" y="2384884"/>
                <a:ext cx="738082" cy="288032"/>
              </a:xfrm>
              <a:prstGeom prst="curvedConnector3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32B12B-9E88-4EB8-B08B-A87DB49ED128}"/>
                  </a:ext>
                </a:extLst>
              </p:cNvPr>
              <p:cNvSpPr txBox="1"/>
              <p:nvPr/>
            </p:nvSpPr>
            <p:spPr>
              <a:xfrm>
                <a:off x="4585448" y="2250972"/>
                <a:ext cx="720080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rgbClr val="FF0000"/>
                    </a:solidFill>
                  </a:rPr>
                  <a:t>Here</a:t>
                </a:r>
                <a:endParaRPr lang="en-PK" sz="16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747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24E6-E53D-41D3-9926-A17675CCC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4572000"/>
          </a:xfrm>
        </p:spPr>
        <p:txBody>
          <a:bodyPr>
            <a:normAutofit/>
          </a:bodyPr>
          <a:lstStyle/>
          <a:p>
            <a:r>
              <a:rPr sz="2400"/>
              <a:t>Our password hash format is MD5, so we select the matching format and start the attack.</a:t>
            </a:r>
          </a:p>
          <a:p>
            <a:endParaRPr sz="2400"/>
          </a:p>
          <a:p>
            <a:r>
              <a:rPr sz="2400"/>
              <a:t>Johnny tests wordlist candidates against the hash and shows the recovered dummy password if a match is found.</a:t>
            </a:r>
          </a:p>
          <a:p>
            <a:r>
              <a:rPr sz="2400"/>
              <a:t>The result appears in the output area.</a:t>
            </a:r>
          </a:p>
          <a:p>
            <a:endParaRPr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CDCBF-E1C4-4883-B798-E43EB71B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Johnny in Action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D36DD-A85B-4DD8-B723-BACA8955A4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14" b="62440"/>
          <a:stretch/>
        </p:blipFill>
        <p:spPr>
          <a:xfrm>
            <a:off x="1629916" y="5075238"/>
            <a:ext cx="9243291" cy="132556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33B6CF-5D5A-4DB4-A83B-18036847F3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87" r="6086"/>
          <a:stretch/>
        </p:blipFill>
        <p:spPr>
          <a:xfrm>
            <a:off x="4222204" y="2348880"/>
            <a:ext cx="2448272" cy="85745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B8B28BD-A545-4C86-B2E3-0518B3B22598}"/>
              </a:ext>
            </a:extLst>
          </p:cNvPr>
          <p:cNvGrpSpPr/>
          <p:nvPr/>
        </p:nvGrpSpPr>
        <p:grpSpPr>
          <a:xfrm>
            <a:off x="5014292" y="4581128"/>
            <a:ext cx="5858915" cy="1728192"/>
            <a:chOff x="5014292" y="4578872"/>
            <a:chExt cx="5858915" cy="17281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23933-E522-4365-8F16-76AA1885B20D}"/>
                </a:ext>
              </a:extLst>
            </p:cNvPr>
            <p:cNvSpPr/>
            <p:nvPr/>
          </p:nvSpPr>
          <p:spPr>
            <a:xfrm>
              <a:off x="5014292" y="5947024"/>
              <a:ext cx="1872208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A9B5834E-7E75-4F73-9E17-3B61AE5BCA85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rot="10800000" flipV="1">
              <a:off x="6914006" y="4846638"/>
              <a:ext cx="1844702" cy="1288950"/>
            </a:xfrm>
            <a:prstGeom prst="curvedConnector3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A17346-F4D7-4FAD-8C8F-DD05FF85D7C6}"/>
                </a:ext>
              </a:extLst>
            </p:cNvPr>
            <p:cNvSpPr txBox="1"/>
            <p:nvPr/>
          </p:nvSpPr>
          <p:spPr>
            <a:xfrm>
              <a:off x="8758708" y="4578872"/>
              <a:ext cx="211449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rgbClr val="FF0000"/>
                  </a:solidFill>
                </a:rPr>
                <a:t>Here, is the cracked password.</a:t>
              </a:r>
              <a:endParaRPr lang="en-PK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03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 anchor="ctr"/>
          <a:lstStyle/>
          <a:p>
            <a:r>
              <a:rPr sz="4000" b="1">
                <a:solidFill>
                  <a:srgbClr val="1F2A44"/>
                </a:solidFill>
              </a:rPr>
              <a:t>Mitigating Hash Cracking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35048"/>
            <a:ext cx="108574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A5A5A"/>
                </a:solidFill>
              </a:rPr>
              <a:t>Defensive controls reduce the likelihood and impact of password-hash compromise.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8694B3-D243-5D8E-44DC-F559EAE81E81}"/>
              </a:ext>
            </a:extLst>
          </p:cNvPr>
          <p:cNvGrpSpPr/>
          <p:nvPr/>
        </p:nvGrpSpPr>
        <p:grpSpPr>
          <a:xfrm>
            <a:off x="731520" y="1988840"/>
            <a:ext cx="10378440" cy="3888000"/>
            <a:chOff x="731520" y="1783080"/>
            <a:chExt cx="10378440" cy="324612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78308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112" y="187451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Strong passwords: </a:t>
              </a:r>
              <a:r>
                <a:rPr sz="1400" dirty="0">
                  <a:solidFill>
                    <a:srgbClr val="1F2A44"/>
                  </a:solidFill>
                </a:rPr>
                <a:t>Use long passphrases and avoid names, birthdays, phone numbers, and common words.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26480" y="178308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91072" y="187451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Avoid MD5/SHA-1: </a:t>
              </a:r>
              <a:r>
                <a:rPr sz="1400" dirty="0">
                  <a:solidFill>
                    <a:srgbClr val="1F2A44"/>
                  </a:solidFill>
                </a:rPr>
                <a:t>Do not use outdated hashing algorithms for password storage.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1520" y="297180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112" y="3063240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Salt every hash: </a:t>
              </a:r>
              <a:r>
                <a:rPr sz="1400" dirty="0">
                  <a:solidFill>
                    <a:srgbClr val="1F2A44"/>
                  </a:solidFill>
                </a:rPr>
                <a:t>Use a unique salt per password to reduce precomputed and rainbow-table attacks.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26480" y="297180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91072" y="3063240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Use adaptive hashing: </a:t>
              </a:r>
              <a:r>
                <a:rPr sz="1400">
                  <a:solidFill>
                    <a:srgbClr val="1F2A44"/>
                  </a:solidFill>
                </a:rPr>
                <a:t>Prefer bcrypt, scrypt, Argon2, or PBKDF2 for password storage.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1520" y="416052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112" y="425195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Enable MFA: </a:t>
              </a:r>
              <a:r>
                <a:rPr sz="1400">
                  <a:solidFill>
                    <a:srgbClr val="1F2A44"/>
                  </a:solidFill>
                </a:rPr>
                <a:t>Reduce the impact if a password is guessed, reused, or cracked.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26480" y="416052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91072" y="425195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Rate-limit attempts: </a:t>
              </a:r>
              <a:r>
                <a:rPr sz="1400">
                  <a:solidFill>
                    <a:srgbClr val="1F2A44"/>
                  </a:solidFill>
                </a:rPr>
                <a:t>Use lockout, throttling, monitoring, and alerts for suspicious login attempts.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22960" y="609329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C00000"/>
                </a:solidFill>
              </a:rPr>
              <a:t>Key message: cracking tools help security teams test password strength before attackers exploit weak credentials.</a:t>
            </a:r>
          </a:p>
        </p:txBody>
      </p:sp>
    </p:spTree>
    <p:extLst>
      <p:ext uri="{BB962C8B-B14F-4D97-AF65-F5344CB8AC3E}">
        <p14:creationId xmlns:p14="http://schemas.microsoft.com/office/powerpoint/2010/main" val="30718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1F2A44"/>
                </a:solidFill>
              </a:rPr>
              <a:t>Key Takeaways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56FF89-5CAB-B5C4-FAEE-FE567EDEFD57}"/>
              </a:ext>
            </a:extLst>
          </p:cNvPr>
          <p:cNvGrpSpPr/>
          <p:nvPr/>
        </p:nvGrpSpPr>
        <p:grpSpPr>
          <a:xfrm>
            <a:off x="822960" y="1484784"/>
            <a:ext cx="10835640" cy="3878401"/>
            <a:chOff x="822960" y="1325880"/>
            <a:chExt cx="10835640" cy="38784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233A80-276D-AFF7-30DD-465C400E2C2E}"/>
                </a:ext>
              </a:extLst>
            </p:cNvPr>
            <p:cNvGrpSpPr/>
            <p:nvPr/>
          </p:nvGrpSpPr>
          <p:grpSpPr>
            <a:xfrm>
              <a:off x="822960" y="1325880"/>
              <a:ext cx="10835640" cy="769441"/>
              <a:chOff x="822960" y="1325880"/>
              <a:chExt cx="10972800" cy="769441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822960" y="156429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1280160" y="1325880"/>
                <a:ext cx="105156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Password hashes can still be cracked when users choose weak or predictable passwords.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EEE42D7-69C8-3DEE-E519-09852CEE0498}"/>
                </a:ext>
              </a:extLst>
            </p:cNvPr>
            <p:cNvGrpSpPr/>
            <p:nvPr/>
          </p:nvGrpSpPr>
          <p:grpSpPr>
            <a:xfrm>
              <a:off x="822960" y="2272397"/>
              <a:ext cx="10835640" cy="430887"/>
              <a:chOff x="822960" y="2278033"/>
              <a:chExt cx="10835640" cy="430887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822960" y="2347172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280160" y="2278033"/>
                <a:ext cx="103784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Wordlists make cracking faster by testing likely password candidates first.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126A8F-03CC-C194-4F83-9779044E78B2}"/>
                </a:ext>
              </a:extLst>
            </p:cNvPr>
            <p:cNvGrpSpPr/>
            <p:nvPr/>
          </p:nvGrpSpPr>
          <p:grpSpPr>
            <a:xfrm>
              <a:off x="822960" y="2880360"/>
              <a:ext cx="10835640" cy="430887"/>
              <a:chOff x="822960" y="2998113"/>
              <a:chExt cx="10835640" cy="43088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822960" y="3067252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280160" y="2998113"/>
                <a:ext cx="103784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MD5 is suitable only for simple lab demos, not secure password storage.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03459D-2B19-4327-3DAA-8123C2383C08}"/>
                </a:ext>
              </a:extLst>
            </p:cNvPr>
            <p:cNvGrpSpPr/>
            <p:nvPr/>
          </p:nvGrpSpPr>
          <p:grpSpPr>
            <a:xfrm>
              <a:off x="822960" y="3488323"/>
              <a:ext cx="10835640" cy="769441"/>
              <a:chOff x="822960" y="3657600"/>
              <a:chExt cx="10835640" cy="769441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822960" y="389601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280160" y="3657600"/>
                <a:ext cx="103784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Salted adaptive hashing and MFA significantly reduce password compromise risk.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15275FE-99C7-4658-F2BB-D14C28128B49}"/>
                </a:ext>
              </a:extLst>
            </p:cNvPr>
            <p:cNvGrpSpPr/>
            <p:nvPr/>
          </p:nvGrpSpPr>
          <p:grpSpPr>
            <a:xfrm>
              <a:off x="822960" y="4434840"/>
              <a:ext cx="10835640" cy="769441"/>
              <a:chOff x="822960" y="4434840"/>
              <a:chExt cx="10835640" cy="769441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822960" y="467325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280160" y="4434840"/>
                <a:ext cx="103784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Tools like John the Ripper should only be used for authorized auditing and education.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3003F-AE70-F223-E077-85341D94C0EE}"/>
              </a:ext>
            </a:extLst>
          </p:cNvPr>
          <p:cNvSpPr txBox="1"/>
          <p:nvPr/>
        </p:nvSpPr>
        <p:spPr>
          <a:xfrm>
            <a:off x="2416936" y="5715000"/>
            <a:ext cx="7327647" cy="33855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chemeClr val="bg1"/>
                </a:solidFill>
              </a:rPr>
              <a:t>Educational use only: dummy hashes, controlled lab, authorized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9461-19F0-4FC5-AC0F-9ED0F927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4474095" cy="27432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anchor="t"/>
          <a:lstStyle/>
          <a:p>
            <a:r>
              <a:rPr b="1" dirty="0">
                <a:latin typeface="+mn-lt"/>
              </a:rPr>
              <a:t>Thank you!</a:t>
            </a:r>
            <a:br>
              <a:rPr b="1" dirty="0">
                <a:latin typeface="+mn-lt"/>
              </a:rPr>
            </a:br>
            <a:br>
              <a:rPr b="1" dirty="0">
                <a:latin typeface="+mn-lt"/>
              </a:rPr>
            </a:br>
            <a:r>
              <a:rPr b="1" dirty="0">
                <a:latin typeface="+mn-lt"/>
              </a:rPr>
              <a:t>Any 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543F6-D04E-4565-82CE-EDE6F01D2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213" y="3068960"/>
            <a:ext cx="4330079" cy="310324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sz="1900" b="1" dirty="0"/>
              <a:t>References:</a:t>
            </a:r>
          </a:p>
          <a:p>
            <a:pPr>
              <a:lnSpc>
                <a:spcPct val="120000"/>
              </a:lnSpc>
            </a:pPr>
            <a:endParaRPr b="1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John the Ripper: </a:t>
            </a:r>
            <a:r>
              <a:rPr dirty="0">
                <a:hlinkClick r:id="rId3"/>
              </a:rPr>
              <a:t>https://www.openwall.com/john/</a:t>
            </a:r>
            <a:r>
              <a:rPr lang="en-GB" dirty="0"/>
              <a:t> </a:t>
            </a:r>
            <a:endParaRPr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Kali Tools - John: </a:t>
            </a:r>
            <a:r>
              <a:rPr dirty="0">
                <a:hlinkClick r:id="rId4"/>
              </a:rPr>
              <a:t>https://www.kali.org/tools/john/</a:t>
            </a:r>
            <a:r>
              <a:rPr lang="en-GB" dirty="0"/>
              <a:t> </a:t>
            </a:r>
            <a:endParaRPr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OWASP Password Storage Cheat Sheet: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>
                <a:hlinkClick r:id="rId5"/>
              </a:rPr>
              <a:t>https://cheatsheetseries.owasp.org/cheatsheets/Password_Storage_Cheat_Sheet.html</a:t>
            </a:r>
            <a:r>
              <a:rPr lang="en-GB" dirty="0"/>
              <a:t> </a:t>
            </a:r>
            <a:endParaRPr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NIST Digital Identity Guidelines SP 800-63B:</a:t>
            </a:r>
            <a:r>
              <a:rPr lang="en-GB" dirty="0"/>
              <a:t>                 </a:t>
            </a:r>
            <a:r>
              <a:rPr dirty="0">
                <a:hlinkClick r:id="rId6"/>
              </a:rPr>
              <a:t>https://pages.nist.gov/800-63-3/sp800-63b.html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9747E859-8567-4DD1-8616-7CB7590C06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3" t="-12500" r="18179" b="-12500"/>
          <a:stretch/>
        </p:blipFill>
        <p:spPr>
          <a:xfrm>
            <a:off x="5158308" y="0"/>
            <a:ext cx="7030517" cy="6858000"/>
          </a:xfrm>
          <a:gradFill flip="none" rotWithShape="1">
            <a:gsLst>
              <a:gs pos="100000">
                <a:schemeClr val="bg1"/>
              </a:gs>
              <a:gs pos="63000">
                <a:srgbClr val="FFFFFF"/>
              </a:gs>
              <a:gs pos="0">
                <a:srgbClr val="D9D9D9"/>
              </a:gs>
            </a:gsLst>
            <a:lin ang="8100000" scaled="1"/>
            <a:tileRect/>
          </a:gradFill>
          <a:ln>
            <a:noFill/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23804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World maps series, World  presentation (widescreen).potx" id="{6FD2C32E-565A-4F51-8C38-826F1B24AA7D}" vid="{06379D18-BA11-4F05-84DF-EB681B68D4FA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77EC34-A499-44BB-AB2A-1D43943AB675}">
  <we:reference id="wa200006067" version="1.0.0.9" store="en-US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1026</TotalTime>
  <Words>1174</Words>
  <Application>Microsoft Office PowerPoint</Application>
  <PresentationFormat>Custom</PresentationFormat>
  <Paragraphs>132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Narrow</vt:lpstr>
      <vt:lpstr>Century Gothic</vt:lpstr>
      <vt:lpstr>Consolas</vt:lpstr>
      <vt:lpstr>World Presentation 16x9</vt:lpstr>
      <vt:lpstr>John the Ripper</vt:lpstr>
      <vt:lpstr>Table of Contents</vt:lpstr>
      <vt:lpstr>Benefits of Kali Linux</vt:lpstr>
      <vt:lpstr>Introducing John the Ripper</vt:lpstr>
      <vt:lpstr>Reasons to Use John the Ripper</vt:lpstr>
      <vt:lpstr>Understanding Password Hashes</vt:lpstr>
      <vt:lpstr>PowerPoint Presentation</vt:lpstr>
      <vt:lpstr>Process of Using John the Ripper</vt:lpstr>
      <vt:lpstr>Generating a Hash</vt:lpstr>
      <vt:lpstr>Creating a Wordlist </vt:lpstr>
      <vt:lpstr>Visual representation</vt:lpstr>
      <vt:lpstr>Execution of John the Ripper</vt:lpstr>
      <vt:lpstr>John's Command Syntax</vt:lpstr>
      <vt:lpstr>Cracking Process</vt:lpstr>
      <vt:lpstr>Cracking ZIP and PDF Hashes</vt:lpstr>
      <vt:lpstr>Introducing Johnny GUI</vt:lpstr>
      <vt:lpstr>Johnny in Action</vt:lpstr>
      <vt:lpstr>Johnny in Action</vt:lpstr>
      <vt:lpstr>Johnny in Action</vt:lpstr>
      <vt:lpstr>Mitigating Hash Cracking Risks</vt:lpstr>
      <vt:lpstr>PowerPoint Presentation</vt:lpstr>
      <vt:lpstr>Thank you!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WITH KALI LINUX</dc:title>
  <dc:creator>Microsoft account</dc:creator>
  <cp:lastModifiedBy>Hussain Ali</cp:lastModifiedBy>
  <cp:revision>73</cp:revision>
  <dcterms:created xsi:type="dcterms:W3CDTF">2023-12-14T09:08:21Z</dcterms:created>
  <dcterms:modified xsi:type="dcterms:W3CDTF">2026-05-26T18:33:08Z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